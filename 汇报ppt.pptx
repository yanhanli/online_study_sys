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sldIdLst>
    <p:sldId id="260" r:id="rId4"/>
    <p:sldId id="281" r:id="rId5"/>
    <p:sldId id="282" r:id="rId6"/>
    <p:sldId id="283" r:id="rId7"/>
    <p:sldId id="284" r:id="rId8"/>
    <p:sldId id="285" r:id="rId9"/>
    <p:sldId id="286" r:id="rId10"/>
    <p:sldId id="261" r:id="rId11"/>
    <p:sldId id="273" r:id="rId12"/>
    <p:sldId id="279" r:id="rId13"/>
    <p:sldId id="262" r:id="rId14"/>
    <p:sldId id="263" r:id="rId15"/>
    <p:sldId id="264" r:id="rId16"/>
    <p:sldId id="265" r:id="rId17"/>
    <p:sldId id="266" r:id="rId18"/>
    <p:sldId id="274" r:id="rId19"/>
    <p:sldId id="267" r:id="rId20"/>
    <p:sldId id="275" r:id="rId21"/>
    <p:sldId id="268" r:id="rId22"/>
    <p:sldId id="269" r:id="rId23"/>
    <p:sldId id="276" r:id="rId24"/>
    <p:sldId id="277" r:id="rId25"/>
    <p:sldId id="270" r:id="rId26"/>
    <p:sldId id="278" r:id="rId27"/>
    <p:sldId id="280" r:id="rId28"/>
    <p:sldId id="271" r:id="rId29"/>
  </p:sldIdLst>
  <p:sldSz cx="17475200" cy="97536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84354" y="1936090"/>
            <a:ext cx="13106400" cy="3395698"/>
          </a:xfrm>
        </p:spPr>
        <p:txBody>
          <a:bodyPr anchor="b"/>
          <a:lstStyle>
            <a:lvl1pPr algn="ctr">
              <a:defRPr sz="8535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184354" y="5462738"/>
            <a:ext cx="13106400" cy="2354862"/>
          </a:xfrm>
        </p:spPr>
        <p:txBody>
          <a:bodyPr/>
          <a:lstStyle>
            <a:lvl1pPr marL="0" indent="0" algn="ctr">
              <a:buNone/>
              <a:defRPr sz="3415"/>
            </a:lvl1pPr>
            <a:lvl2pPr marL="650240" indent="0" algn="ctr">
              <a:buNone/>
              <a:defRPr sz="2845"/>
            </a:lvl2pPr>
            <a:lvl3pPr marL="1300480" indent="0" algn="ctr">
              <a:buNone/>
              <a:defRPr sz="2560"/>
            </a:lvl3pPr>
            <a:lvl4pPr marL="1950720" indent="0" algn="ctr">
              <a:buNone/>
              <a:defRPr sz="2275"/>
            </a:lvl4pPr>
            <a:lvl5pPr marL="2600960" indent="0" algn="ctr">
              <a:buNone/>
              <a:defRPr sz="2275"/>
            </a:lvl5pPr>
            <a:lvl6pPr marL="3251200" indent="0" algn="ctr">
              <a:buNone/>
              <a:defRPr sz="2275"/>
            </a:lvl6pPr>
            <a:lvl7pPr marL="3901440" indent="0" algn="ctr">
              <a:buNone/>
              <a:defRPr sz="2275"/>
            </a:lvl7pPr>
            <a:lvl8pPr marL="4551680" indent="0" algn="ctr">
              <a:buNone/>
              <a:defRPr sz="2275"/>
            </a:lvl8pPr>
            <a:lvl9pPr marL="5201920" indent="0" algn="ctr">
              <a:buNone/>
              <a:defRPr sz="2275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01397" y="743960"/>
            <a:ext cx="15072360" cy="188524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01397" y="2821116"/>
            <a:ext cx="15072360" cy="61885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2318" y="2431627"/>
            <a:ext cx="15072360" cy="4057226"/>
          </a:xfrm>
        </p:spPr>
        <p:txBody>
          <a:bodyPr anchor="b"/>
          <a:lstStyle>
            <a:lvl1pPr>
              <a:defRPr sz="8535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92318" y="6527236"/>
            <a:ext cx="15072360" cy="2133599"/>
          </a:xfrm>
        </p:spPr>
        <p:txBody>
          <a:bodyPr/>
          <a:lstStyle>
            <a:lvl1pPr marL="0" indent="0">
              <a:buNone/>
              <a:defRPr sz="3415">
                <a:solidFill>
                  <a:schemeClr val="tx1">
                    <a:tint val="75000"/>
                  </a:schemeClr>
                </a:solidFill>
              </a:defRPr>
            </a:lvl1pPr>
            <a:lvl2pPr marL="650240" indent="0">
              <a:buNone/>
              <a:defRPr sz="2845">
                <a:solidFill>
                  <a:schemeClr val="tx1">
                    <a:tint val="75000"/>
                  </a:schemeClr>
                </a:solidFill>
              </a:defRPr>
            </a:lvl2pPr>
            <a:lvl3pPr marL="130048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3pPr>
            <a:lvl4pPr marL="1950720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4pPr>
            <a:lvl5pPr marL="2600960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5pPr>
            <a:lvl6pPr marL="3251200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6pPr>
            <a:lvl7pPr marL="3901440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7pPr>
            <a:lvl8pPr marL="4551680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8pPr>
            <a:lvl9pPr marL="5201920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01397" y="743960"/>
            <a:ext cx="15072360" cy="188524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201397" y="2821116"/>
            <a:ext cx="7426960" cy="61885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846797" y="2821116"/>
            <a:ext cx="7426960" cy="61885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01189" y="734231"/>
            <a:ext cx="15072776" cy="18835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01189" y="2752273"/>
            <a:ext cx="7400800" cy="1177190"/>
          </a:xfrm>
        </p:spPr>
        <p:txBody>
          <a:bodyPr anchor="ctr" anchorCtr="0"/>
          <a:lstStyle>
            <a:lvl1pPr marL="0" indent="0">
              <a:buNone/>
              <a:defRPr sz="3980"/>
            </a:lvl1pPr>
            <a:lvl2pPr marL="650240" indent="0">
              <a:buNone/>
              <a:defRPr sz="3415"/>
            </a:lvl2pPr>
            <a:lvl3pPr marL="1300480" indent="0">
              <a:buNone/>
              <a:defRPr sz="2845"/>
            </a:lvl3pPr>
            <a:lvl4pPr marL="1950720" indent="0">
              <a:buNone/>
              <a:defRPr sz="2560"/>
            </a:lvl4pPr>
            <a:lvl5pPr marL="2600960" indent="0">
              <a:buNone/>
              <a:defRPr sz="2560"/>
            </a:lvl5pPr>
            <a:lvl6pPr marL="3251200" indent="0">
              <a:buNone/>
              <a:defRPr sz="2560"/>
            </a:lvl6pPr>
            <a:lvl7pPr marL="3901440" indent="0">
              <a:buNone/>
              <a:defRPr sz="2560"/>
            </a:lvl7pPr>
            <a:lvl8pPr marL="4551680" indent="0">
              <a:buNone/>
              <a:defRPr sz="2560"/>
            </a:lvl8pPr>
            <a:lvl9pPr marL="5201920" indent="0">
              <a:buNone/>
              <a:defRPr sz="256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201189" y="4007943"/>
            <a:ext cx="7400800" cy="50114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8839268" y="2752273"/>
            <a:ext cx="7434697" cy="1177190"/>
          </a:xfrm>
        </p:spPr>
        <p:txBody>
          <a:bodyPr anchor="ctr" anchorCtr="0"/>
          <a:lstStyle>
            <a:lvl1pPr marL="0" indent="0">
              <a:buNone/>
              <a:defRPr sz="3980"/>
            </a:lvl1pPr>
            <a:lvl2pPr marL="650240" indent="0">
              <a:buNone/>
              <a:defRPr sz="3415"/>
            </a:lvl2pPr>
            <a:lvl3pPr marL="1300480" indent="0">
              <a:buNone/>
              <a:defRPr sz="2845"/>
            </a:lvl3pPr>
            <a:lvl4pPr marL="1950720" indent="0">
              <a:buNone/>
              <a:defRPr sz="2560"/>
            </a:lvl4pPr>
            <a:lvl5pPr marL="2600960" indent="0">
              <a:buNone/>
              <a:defRPr sz="2560"/>
            </a:lvl5pPr>
            <a:lvl6pPr marL="3251200" indent="0">
              <a:buNone/>
              <a:defRPr sz="2560"/>
            </a:lvl6pPr>
            <a:lvl7pPr marL="3901440" indent="0">
              <a:buNone/>
              <a:defRPr sz="2560"/>
            </a:lvl7pPr>
            <a:lvl8pPr marL="4551680" indent="0">
              <a:buNone/>
              <a:defRPr sz="2560"/>
            </a:lvl8pPr>
            <a:lvl9pPr marL="5201920" indent="0">
              <a:buNone/>
              <a:defRPr sz="256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8839268" y="4007943"/>
            <a:ext cx="7434697" cy="50114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01397" y="1028440"/>
            <a:ext cx="5970334" cy="2275840"/>
          </a:xfrm>
        </p:spPr>
        <p:txBody>
          <a:bodyPr anchor="b"/>
          <a:lstStyle>
            <a:lvl1pPr>
              <a:defRPr sz="455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7426937" y="1028442"/>
            <a:ext cx="8846820" cy="7685476"/>
          </a:xfrm>
        </p:spPr>
        <p:txBody>
          <a:bodyPr/>
          <a:lstStyle>
            <a:lvl1pPr marL="0" indent="0">
              <a:buNone/>
              <a:defRPr sz="4550"/>
            </a:lvl1pPr>
            <a:lvl2pPr marL="650240" indent="0">
              <a:buNone/>
              <a:defRPr sz="3980"/>
            </a:lvl2pPr>
            <a:lvl3pPr marL="1300480" indent="0">
              <a:buNone/>
              <a:defRPr sz="3415"/>
            </a:lvl3pPr>
            <a:lvl4pPr marL="1950720" indent="0">
              <a:buNone/>
              <a:defRPr sz="2845"/>
            </a:lvl4pPr>
            <a:lvl5pPr marL="2600960" indent="0">
              <a:buNone/>
              <a:defRPr sz="2845"/>
            </a:lvl5pPr>
            <a:lvl6pPr marL="3251200" indent="0">
              <a:buNone/>
              <a:defRPr sz="2845"/>
            </a:lvl6pPr>
            <a:lvl7pPr marL="3901440" indent="0">
              <a:buNone/>
              <a:defRPr sz="2845"/>
            </a:lvl7pPr>
            <a:lvl8pPr marL="4551680" indent="0">
              <a:buNone/>
              <a:defRPr sz="2845"/>
            </a:lvl8pPr>
            <a:lvl9pPr marL="5201920" indent="0">
              <a:buNone/>
              <a:defRPr sz="284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01397" y="3304280"/>
            <a:ext cx="5970334" cy="5420925"/>
          </a:xfrm>
        </p:spPr>
        <p:txBody>
          <a:bodyPr/>
          <a:lstStyle>
            <a:lvl1pPr marL="0" indent="0">
              <a:buNone/>
              <a:defRPr sz="2845"/>
            </a:lvl1pPr>
            <a:lvl2pPr marL="650240" indent="0">
              <a:buNone/>
              <a:defRPr sz="2560"/>
            </a:lvl2pPr>
            <a:lvl3pPr marL="1300480" indent="0">
              <a:buNone/>
              <a:defRPr sz="2275"/>
            </a:lvl3pPr>
            <a:lvl4pPr marL="1950720" indent="0">
              <a:buNone/>
              <a:defRPr sz="1990"/>
            </a:lvl4pPr>
            <a:lvl5pPr marL="2600960" indent="0">
              <a:buNone/>
              <a:defRPr sz="1990"/>
            </a:lvl5pPr>
            <a:lvl6pPr marL="3251200" indent="0">
              <a:buNone/>
              <a:defRPr sz="1990"/>
            </a:lvl6pPr>
            <a:lvl7pPr marL="3901440" indent="0">
              <a:buNone/>
              <a:defRPr sz="1990"/>
            </a:lvl7pPr>
            <a:lvl8pPr marL="4551680" indent="0">
              <a:buNone/>
              <a:defRPr sz="1990"/>
            </a:lvl8pPr>
            <a:lvl9pPr marL="5201920" indent="0">
              <a:buNone/>
              <a:defRPr sz="199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2505667" y="743960"/>
            <a:ext cx="3768090" cy="82657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01397" y="743960"/>
            <a:ext cx="11085830" cy="82657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201397" y="743960"/>
            <a:ext cx="15072360" cy="8265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201374" y="743983"/>
            <a:ext cx="15072360" cy="18852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01374" y="2821138"/>
            <a:ext cx="15072360" cy="61885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1300480" rtl="0" eaLnBrk="1" latinLnBrk="0" hangingPunct="1">
        <a:lnSpc>
          <a:spcPct val="90000"/>
        </a:lnSpc>
        <a:spcBef>
          <a:spcPct val="0"/>
        </a:spcBef>
        <a:buNone/>
        <a:defRPr sz="626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325120" indent="-325120" algn="l" defTabSz="1300480" rtl="0" eaLnBrk="1" latinLnBrk="0" hangingPunct="1">
        <a:lnSpc>
          <a:spcPct val="90000"/>
        </a:lnSpc>
        <a:spcBef>
          <a:spcPct val="285000"/>
        </a:spcBef>
        <a:buFont typeface="Arial" panose="020B0604020202090204" pitchFamily="34" charset="0"/>
        <a:buChar char="•"/>
        <a:defRPr sz="3415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975360" indent="-325120" algn="l" defTabSz="1300480" rtl="0" eaLnBrk="1" latinLnBrk="0" hangingPunct="1">
        <a:lnSpc>
          <a:spcPct val="90000"/>
        </a:lnSpc>
        <a:spcBef>
          <a:spcPct val="143000"/>
        </a:spcBef>
        <a:buFont typeface="Arial" panose="020B0604020202090204" pitchFamily="34" charset="0"/>
        <a:buChar char="•"/>
        <a:defRPr sz="3415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625600" indent="-325120" algn="l" defTabSz="1300480" rtl="0" eaLnBrk="1" latinLnBrk="0" hangingPunct="1">
        <a:lnSpc>
          <a:spcPct val="90000"/>
        </a:lnSpc>
        <a:spcBef>
          <a:spcPct val="143000"/>
        </a:spcBef>
        <a:buFont typeface="Arial" panose="020B0604020202090204" pitchFamily="34" charset="0"/>
        <a:buChar char="•"/>
        <a:defRPr sz="3415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2275840" indent="-325120" algn="l" defTabSz="1300480" rtl="0" eaLnBrk="1" latinLnBrk="0" hangingPunct="1">
        <a:lnSpc>
          <a:spcPct val="90000"/>
        </a:lnSpc>
        <a:spcBef>
          <a:spcPct val="143000"/>
        </a:spcBef>
        <a:buFont typeface="Arial" panose="020B0604020202090204" pitchFamily="34" charset="0"/>
        <a:buChar char="•"/>
        <a:defRPr sz="3415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926080" indent="-325120" algn="l" defTabSz="1300480" rtl="0" eaLnBrk="1" latinLnBrk="0" hangingPunct="1">
        <a:lnSpc>
          <a:spcPct val="90000"/>
        </a:lnSpc>
        <a:spcBef>
          <a:spcPct val="143000"/>
        </a:spcBef>
        <a:buFont typeface="Arial" panose="020B0604020202090204" pitchFamily="34" charset="0"/>
        <a:buChar char="•"/>
        <a:defRPr sz="3415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3576320" marR="0" indent="-325120" algn="l" defTabSz="1300480" rtl="0" eaLnBrk="1" fontAlgn="auto" latinLnBrk="0" hangingPunct="1">
        <a:lnSpc>
          <a:spcPct val="90000"/>
        </a:lnSpc>
        <a:spcBef>
          <a:spcPct val="143000"/>
        </a:spcBef>
        <a:spcAft>
          <a:spcPts val="0"/>
        </a:spcAft>
        <a:buClrTx/>
        <a:buSzTx/>
        <a:buFont typeface="Arial" panose="020B0604020202090204" pitchFamily="34" charset="0"/>
        <a:buChar char="•"/>
        <a:defRPr lang="zh-CN" altLang="en-US" sz="3415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4226560" indent="-325120" algn="l" defTabSz="1300480" rtl="0" eaLnBrk="1" latinLnBrk="0" hangingPunct="1">
        <a:lnSpc>
          <a:spcPct val="90000"/>
        </a:lnSpc>
        <a:spcBef>
          <a:spcPct val="143000"/>
        </a:spcBef>
        <a:buFont typeface="Arial" panose="020B0604020202090204" pitchFamily="34" charset="0"/>
        <a:buChar char="•"/>
        <a:defRPr lang="en-US" altLang="zh-CN" sz="3415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4876800" indent="-325120" algn="l" defTabSz="1300480" rtl="0" eaLnBrk="1" latinLnBrk="0" hangingPunct="1">
        <a:lnSpc>
          <a:spcPct val="90000"/>
        </a:lnSpc>
        <a:spcBef>
          <a:spcPct val="143000"/>
        </a:spcBef>
        <a:buFont typeface="Arial" panose="020B0604020202090204" pitchFamily="34" charset="0"/>
        <a:buChar char="•"/>
        <a:defRPr lang="en-US" altLang="zh-CN" sz="3415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5201920" indent="0" algn="l" defTabSz="1300480" rtl="0" eaLnBrk="1" latinLnBrk="0" hangingPunct="1">
        <a:lnSpc>
          <a:spcPct val="90000"/>
        </a:lnSpc>
        <a:spcBef>
          <a:spcPct val="143000"/>
        </a:spcBef>
        <a:buFont typeface="Arial" panose="020B0604020202090204" pitchFamily="34" charset="0"/>
        <a:buNone/>
        <a:defRPr lang="en-US" altLang="zh-CN" sz="3415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40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80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720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60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1200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440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80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920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1.xml"/><Relationship Id="rId4" Type="http://schemas.openxmlformats.org/officeDocument/2006/relationships/image" Target="../media/image2.png"/><Relationship Id="rId3" Type="http://schemas.openxmlformats.org/officeDocument/2006/relationships/tags" Target="../tags/tag1.xml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1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7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8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8.jpeg"/><Relationship Id="rId1" Type="http://schemas.openxmlformats.org/officeDocument/2006/relationships/image" Target="../media/image27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1.xml"/><Relationship Id="rId4" Type="http://schemas.openxmlformats.org/officeDocument/2006/relationships/image" Target="../media/image35.jpeg"/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image" Target="../media/image3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F6F7F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" name="textbox 4"/>
          <p:cNvSpPr/>
          <p:nvPr/>
        </p:nvSpPr>
        <p:spPr>
          <a:xfrm>
            <a:off x="2647899" y="3555348"/>
            <a:ext cx="14728189" cy="6118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8800" b="1" kern="0" spc="0" dirty="0">
                <a:solidFill>
                  <a:srgbClr val="20405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USTC</a:t>
            </a:r>
            <a:r>
              <a:rPr sz="8800" b="1" kern="0" spc="90" dirty="0">
                <a:solidFill>
                  <a:srgbClr val="20405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在线学习培训系统</a:t>
            </a:r>
            <a:endParaRPr sz="8800" dirty="0">
              <a:latin typeface="黑体"/>
              <a:ea typeface="黑体"/>
              <a:cs typeface="黑体"/>
            </a:endParaRPr>
          </a:p>
          <a:p>
            <a:pPr marL="1800225" algn="l" rtl="0" eaLnBrk="0">
              <a:lnSpc>
                <a:spcPct val="94000"/>
              </a:lnSpc>
              <a:spcBef>
                <a:spcPts val="1065"/>
              </a:spcBef>
            </a:pPr>
            <a:r>
              <a:rPr sz="5200" b="1" kern="0" spc="-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高级数据库组队实践项目报</a:t>
            </a:r>
            <a:r>
              <a:rPr sz="5200" b="1" kern="0" spc="-4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告</a:t>
            </a:r>
            <a:endParaRPr sz="52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754630" algn="l" rtl="0" eaLnBrk="0">
              <a:lnSpc>
                <a:spcPct val="95000"/>
              </a:lnSpc>
              <a:spcBef>
                <a:spcPts val="875"/>
              </a:spcBef>
            </a:pPr>
            <a:r>
              <a:rPr sz="2900" b="1" kern="0" spc="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团队成员：李彦翰、</a:t>
            </a:r>
            <a:r>
              <a:rPr sz="2900" b="1" kern="0" spc="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李锦辰、李帅、李响</a:t>
            </a:r>
            <a:endParaRPr sz="29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32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32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32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9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81000"/>
              </a:lnSpc>
              <a:spcBef>
                <a:spcPts val="5"/>
              </a:spcBef>
            </a:pPr>
            <a:endParaRPr sz="14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5500329" y="596920"/>
            <a:ext cx="1282678" cy="13017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xPin_2025-12-27_19-01-07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23520" y="0"/>
            <a:ext cx="17028160" cy="9753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40665"/>
            <a:ext cx="17475200" cy="92722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88290"/>
            <a:ext cx="17474565" cy="91770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01295"/>
            <a:ext cx="17475200" cy="93503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7480"/>
            <a:ext cx="17474565" cy="943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02565"/>
            <a:ext cx="17475200" cy="93484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8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F6F6F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2" name="group 2"/>
          <p:cNvGrpSpPr/>
          <p:nvPr/>
        </p:nvGrpSpPr>
        <p:grpSpPr>
          <a:xfrm rot="21600000">
            <a:off x="7118347" y="2552712"/>
            <a:ext cx="9334553" cy="6057863"/>
            <a:chOff x="0" y="0"/>
            <a:chExt cx="9334553" cy="6057863"/>
          </a:xfrm>
        </p:grpSpPr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9334553" cy="6057863"/>
            </a:xfrm>
            <a:prstGeom prst="rect">
              <a:avLst/>
            </a:prstGeom>
          </p:spPr>
        </p:pic>
        <p:sp>
          <p:nvSpPr>
            <p:cNvPr id="12" name="textbox 12"/>
            <p:cNvSpPr/>
            <p:nvPr/>
          </p:nvSpPr>
          <p:spPr>
            <a:xfrm>
              <a:off x="800071" y="377136"/>
              <a:ext cx="2402839" cy="54089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3000"/>
                </a:lnSpc>
              </a:pPr>
              <a:endParaRPr sz="1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066800" algn="l" rtl="0" eaLnBrk="0">
                <a:lnSpc>
                  <a:spcPct val="95000"/>
                </a:lnSpc>
              </a:pPr>
              <a:r>
                <a:rPr sz="2100" kern="0" spc="-3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  <a:cs typeface="黑体"/>
                </a:rPr>
                <a:t>前端</a:t>
              </a:r>
              <a:endParaRPr sz="2100" dirty="0">
                <a:latin typeface="黑体"/>
                <a:ea typeface="黑体"/>
                <a:cs typeface="黑体"/>
              </a:endParaRPr>
            </a:p>
            <a:p>
              <a:pPr algn="r" rtl="0" eaLnBrk="0">
                <a:lnSpc>
                  <a:spcPct val="81000"/>
                </a:lnSpc>
                <a:spcBef>
                  <a:spcPts val="380"/>
                </a:spcBef>
              </a:pPr>
              <a:r>
                <a:rPr sz="1800" kern="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(React+An</a:t>
              </a:r>
              <a:r>
                <a:rPr sz="1800" kern="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t</a:t>
              </a:r>
              <a:r>
                <a:rPr sz="1800" kern="0" spc="7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 </a:t>
              </a:r>
              <a:r>
                <a:rPr sz="1800" kern="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Design)</a:t>
              </a:r>
              <a:endParaRPr sz="18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6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6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6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6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6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6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6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6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7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7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7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742950" algn="l" rtl="0" eaLnBrk="0">
                <a:lnSpc>
                  <a:spcPct val="87000"/>
                </a:lnSpc>
                <a:spcBef>
                  <a:spcPts val="630"/>
                </a:spcBef>
              </a:pPr>
              <a:r>
                <a:rPr sz="2100" kern="0" spc="5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  <a:cs typeface="黑体"/>
                </a:rPr>
                <a:t>后端</a:t>
              </a:r>
              <a:endParaRPr sz="2100" dirty="0">
                <a:latin typeface="黑体"/>
                <a:ea typeface="黑体"/>
                <a:cs typeface="黑体"/>
              </a:endParaRPr>
            </a:p>
            <a:p>
              <a:pPr marL="12700" algn="l" rtl="0" eaLnBrk="0">
                <a:lnSpc>
                  <a:spcPts val="2455"/>
                </a:lnSpc>
              </a:pPr>
              <a:r>
                <a:rPr sz="1800" kern="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  (SpringBoot </a:t>
              </a:r>
              <a:r>
                <a:rPr sz="1800" kern="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3 API)</a:t>
              </a:r>
              <a:endParaRPr sz="18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742950" algn="l" rtl="0" eaLnBrk="0">
                <a:lnSpc>
                  <a:spcPct val="85000"/>
                </a:lnSpc>
                <a:spcBef>
                  <a:spcPts val="640"/>
                </a:spcBef>
              </a:pPr>
              <a:r>
                <a:rPr sz="2100" kern="0" spc="5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  <a:cs typeface="黑体"/>
                </a:rPr>
                <a:t>缓存</a:t>
              </a:r>
              <a:endParaRPr sz="2100" dirty="0">
                <a:latin typeface="黑体"/>
                <a:ea typeface="黑体"/>
                <a:cs typeface="黑体"/>
              </a:endParaRPr>
            </a:p>
            <a:p>
              <a:pPr marL="546100" algn="l" rtl="0" eaLnBrk="0">
                <a:lnSpc>
                  <a:spcPts val="2495"/>
                </a:lnSpc>
              </a:pPr>
              <a:r>
                <a:rPr sz="1800" kern="0" spc="-3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( Redis</a:t>
              </a:r>
              <a:r>
                <a:rPr sz="1800" kern="0" spc="14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 </a:t>
              </a:r>
              <a:r>
                <a:rPr sz="1800" kern="0" spc="-3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7)</a:t>
              </a:r>
              <a:endParaRPr sz="18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sp>
        <p:nvSpPr>
          <p:cNvPr id="14" name="textbox 14"/>
          <p:cNvSpPr/>
          <p:nvPr/>
        </p:nvSpPr>
        <p:spPr>
          <a:xfrm>
            <a:off x="1047695" y="2534432"/>
            <a:ext cx="5389245" cy="60331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7780" algn="l" rtl="0" eaLnBrk="0">
              <a:lnSpc>
                <a:spcPct val="95000"/>
              </a:lnSpc>
            </a:pPr>
            <a:r>
              <a:rPr sz="3000" b="1" kern="0" spc="-100" dirty="0">
                <a:solidFill>
                  <a:srgbClr val="20405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业务目标</a:t>
            </a:r>
            <a:endParaRPr sz="3000" dirty="0">
              <a:latin typeface="黑体"/>
              <a:ea typeface="黑体"/>
              <a:cs typeface="黑体"/>
            </a:endParaRPr>
          </a:p>
          <a:p>
            <a:pPr marL="12700" algn="l" rtl="0" eaLnBrk="0">
              <a:lnSpc>
                <a:spcPct val="87000"/>
              </a:lnSpc>
              <a:spcBef>
                <a:spcPts val="1020"/>
              </a:spcBef>
            </a:pPr>
            <a:r>
              <a:rPr sz="2200" kern="0" spc="-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构建一套支持</a:t>
            </a:r>
            <a:r>
              <a:rPr sz="22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RBAC</a:t>
            </a:r>
            <a:r>
              <a:rPr sz="2200" kern="0" spc="-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权限管理、多媒体课程</a:t>
            </a:r>
            <a:endParaRPr sz="2200" dirty="0">
              <a:latin typeface="黑体"/>
              <a:ea typeface="黑体"/>
              <a:cs typeface="黑体"/>
            </a:endParaRPr>
          </a:p>
          <a:p>
            <a:pPr marL="12700" algn="l" rtl="0" eaLnBrk="0">
              <a:lnSpc>
                <a:spcPts val="3230"/>
              </a:lnSpc>
            </a:pPr>
            <a:r>
              <a:rPr sz="2200" kern="0" spc="-9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发布与在线测评的</a:t>
            </a:r>
            <a:r>
              <a:rPr sz="2200" kern="0" spc="-90" dirty="0">
                <a:solidFill>
                  <a:srgbClr val="000000">
                    <a:alpha val="100000"/>
                  </a:srgbClr>
                </a:solidFill>
                <a:latin typeface="黑体" charset="0"/>
                <a:ea typeface="黑体" charset="0"/>
                <a:cs typeface="黑体" charset="0"/>
              </a:rPr>
              <a:t>在线</a:t>
            </a:r>
            <a:r>
              <a:rPr sz="2200" kern="0" spc="-9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培训平台。</a:t>
            </a:r>
            <a:endParaRPr sz="22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7780" algn="l" rtl="0" eaLnBrk="0">
              <a:lnSpc>
                <a:spcPct val="96000"/>
              </a:lnSpc>
              <a:spcBef>
                <a:spcPts val="910"/>
              </a:spcBef>
            </a:pPr>
            <a:r>
              <a:rPr sz="3000" b="1" kern="0" spc="-50" dirty="0">
                <a:solidFill>
                  <a:srgbClr val="20405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技术栈</a:t>
            </a:r>
            <a:endParaRPr sz="3000" dirty="0">
              <a:latin typeface="黑体"/>
              <a:ea typeface="黑体"/>
              <a:cs typeface="黑体"/>
            </a:endParaRPr>
          </a:p>
          <a:p>
            <a:pPr marL="69215" algn="l" rtl="0" eaLnBrk="0">
              <a:lnSpc>
                <a:spcPct val="93000"/>
              </a:lnSpc>
              <a:spcBef>
                <a:spcPts val="1225"/>
              </a:spcBef>
            </a:pP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·</a:t>
            </a:r>
            <a:r>
              <a:rPr sz="2200" kern="0" spc="-68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后端：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Spring</a:t>
            </a:r>
            <a:r>
              <a:rPr sz="22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Boot</a:t>
            </a:r>
            <a:r>
              <a:rPr sz="2200" kern="0" spc="1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2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3+MyBatis Plus</a:t>
            </a:r>
            <a:endParaRPr sz="22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69215" algn="l" rtl="0" eaLnBrk="0">
              <a:lnSpc>
                <a:spcPts val="3065"/>
              </a:lnSpc>
              <a:spcBef>
                <a:spcPts val="325"/>
              </a:spcBef>
            </a:pPr>
            <a:r>
              <a:rPr sz="2200" kern="0" spc="-6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·</a:t>
            </a:r>
            <a:r>
              <a:rPr sz="2200" kern="0" spc="-86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2200" kern="0" spc="-6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核心数据库：</a:t>
            </a:r>
            <a:r>
              <a:rPr sz="2200" kern="0" spc="-6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2200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MySQL8.0</a:t>
            </a:r>
            <a:endParaRPr sz="22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69215" algn="l" rtl="0" eaLnBrk="0">
              <a:lnSpc>
                <a:spcPct val="98000"/>
              </a:lnSpc>
              <a:spcBef>
                <a:spcPts val="565"/>
              </a:spcBef>
            </a:pPr>
            <a:r>
              <a:rPr sz="2200" kern="0" spc="-8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·</a:t>
            </a:r>
            <a:r>
              <a:rPr sz="2200" kern="0" spc="-8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2200" kern="0" spc="-8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缓存中间件：</a:t>
            </a:r>
            <a:r>
              <a:rPr sz="2200" kern="0" spc="-57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2200" kern="0" spc="-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Redis</a:t>
            </a:r>
            <a:r>
              <a:rPr sz="2200" kern="0" spc="4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200" kern="0" spc="-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7</a:t>
            </a:r>
            <a:endParaRPr sz="22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69215" algn="l" rtl="0" eaLnBrk="0">
              <a:lnSpc>
                <a:spcPct val="98000"/>
              </a:lnSpc>
              <a:spcBef>
                <a:spcPts val="865"/>
              </a:spcBef>
            </a:pPr>
            <a:r>
              <a:rPr sz="2200" kern="0" spc="-7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·</a:t>
            </a:r>
            <a:r>
              <a:rPr sz="2200" kern="0" spc="-76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2200" kern="0" spc="-7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对象存储：</a:t>
            </a:r>
            <a:r>
              <a:rPr sz="2200" kern="0" spc="-6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2200" kern="0" spc="-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Minl</a:t>
            </a:r>
            <a:r>
              <a:rPr lang="en-US" altLang="zh-CN" sz="2200" kern="0" spc="-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</a:t>
            </a:r>
            <a:r>
              <a:rPr sz="2200" kern="0" spc="-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/S3</a:t>
            </a:r>
            <a:endParaRPr sz="22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69215" algn="l" rtl="0" eaLnBrk="0">
              <a:lnSpc>
                <a:spcPct val="93000"/>
              </a:lnSpc>
              <a:spcBef>
                <a:spcPts val="595"/>
              </a:spcBef>
            </a:pPr>
            <a:r>
              <a:rPr sz="2200" kern="0" spc="-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·</a:t>
            </a:r>
            <a:r>
              <a:rPr sz="2200" kern="0" spc="-6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2200" kern="0" spc="-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前端：</a:t>
            </a:r>
            <a:r>
              <a:rPr sz="22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React+Ant    Design</a:t>
            </a:r>
            <a:endParaRPr sz="22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7780" algn="l" rtl="0" eaLnBrk="0">
              <a:lnSpc>
                <a:spcPct val="96000"/>
              </a:lnSpc>
              <a:spcBef>
                <a:spcPts val="905"/>
              </a:spcBef>
            </a:pPr>
            <a:r>
              <a:rPr sz="3000" b="1" kern="0" spc="-120" dirty="0">
                <a:solidFill>
                  <a:srgbClr val="20405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数据库规模</a:t>
            </a:r>
            <a:endParaRPr sz="3000" dirty="0">
              <a:latin typeface="黑体"/>
              <a:ea typeface="黑体"/>
              <a:cs typeface="黑体"/>
            </a:endParaRPr>
          </a:p>
          <a:p>
            <a:pPr marL="12700" algn="l" rtl="0" eaLnBrk="0">
              <a:lnSpc>
                <a:spcPct val="87000"/>
              </a:lnSpc>
              <a:spcBef>
                <a:spcPts val="825"/>
              </a:spcBef>
            </a:pPr>
            <a:r>
              <a:rPr sz="2200" kern="0" spc="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核心业务涉及用户、课程、资源等</a:t>
            </a:r>
            <a:r>
              <a:rPr lang="en-US" altLang="zh-CN" sz="2200" kern="0" spc="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3</a:t>
            </a:r>
            <a:r>
              <a:rPr sz="2200" kern="0" spc="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0余张数</a:t>
            </a:r>
            <a:r>
              <a:rPr sz="2200" kern="0" spc="-10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据表，构成了系统的骨架。</a:t>
            </a:r>
            <a:endParaRPr sz="2200" dirty="0">
              <a:latin typeface="黑体"/>
              <a:ea typeface="黑体"/>
              <a:cs typeface="黑体"/>
            </a:endParaRPr>
          </a:p>
        </p:txBody>
      </p:sp>
      <p:sp>
        <p:nvSpPr>
          <p:cNvPr id="16" name="textbox 16"/>
          <p:cNvSpPr/>
          <p:nvPr/>
        </p:nvSpPr>
        <p:spPr>
          <a:xfrm>
            <a:off x="1056049" y="1058677"/>
            <a:ext cx="8902065" cy="6946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4600" b="1" kern="0" spc="4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系统总蓝图：业务目标与技术</a:t>
            </a:r>
            <a:r>
              <a:rPr sz="4600" b="1" kern="0" spc="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架构</a:t>
            </a:r>
            <a:endParaRPr sz="4600" dirty="0">
              <a:latin typeface="黑体"/>
              <a:ea typeface="黑体"/>
              <a:cs typeface="黑体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11804728" y="5503448"/>
            <a:ext cx="1350644" cy="619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100" kern="0" spc="-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核心数据库</a:t>
            </a:r>
            <a:endParaRPr sz="2100" dirty="0">
              <a:latin typeface="黑体"/>
              <a:ea typeface="黑体"/>
              <a:cs typeface="黑体"/>
            </a:endParaRPr>
          </a:p>
          <a:p>
            <a:pPr marL="37465" algn="l" rtl="0" eaLnBrk="0">
              <a:lnSpc>
                <a:spcPts val="2455"/>
              </a:lnSpc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(MySQL 8.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0)</a:t>
            </a:r>
            <a:endParaRPr sz="18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14738289" y="5508988"/>
            <a:ext cx="1224280" cy="5822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01600" algn="l" rtl="0" eaLnBrk="0">
              <a:lnSpc>
                <a:spcPct val="93000"/>
              </a:lnSpc>
            </a:pPr>
            <a:r>
              <a:rPr sz="2100" kern="0" spc="-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对象存储</a:t>
            </a:r>
            <a:endParaRPr sz="2100" dirty="0">
              <a:latin typeface="黑体"/>
              <a:ea typeface="黑体"/>
              <a:cs typeface="黑体"/>
            </a:endParaRPr>
          </a:p>
          <a:p>
            <a:pPr marL="12700" algn="l" rtl="0" eaLnBrk="0">
              <a:lnSpc>
                <a:spcPct val="81000"/>
              </a:lnSpc>
              <a:spcBef>
                <a:spcPts val="10"/>
              </a:spcBef>
            </a:pPr>
            <a:r>
              <a:rPr sz="21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(Minl</a:t>
            </a:r>
            <a:r>
              <a:rPr lang="en-US" altLang="zh-CN" sz="21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</a:t>
            </a:r>
            <a:r>
              <a:rPr sz="21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/S3)</a:t>
            </a:r>
            <a:endParaRPr sz="21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post_object_image_24635713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3248" y="0"/>
            <a:ext cx="11766988" cy="97536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post_object_image_19040253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8034" y="1524464"/>
            <a:ext cx="13319255" cy="7549247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942340" y="450215"/>
            <a:ext cx="5809615" cy="76835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zh-CN" altLang="en-US" sz="4400" b="1"/>
              <a:t>核心</a:t>
            </a:r>
            <a:r>
              <a:rPr lang="en-US" altLang="zh-CN" sz="4400" b="1"/>
              <a:t> E-R </a:t>
            </a:r>
            <a:r>
              <a:rPr lang="zh-CN" altLang="en-US" sz="4400" b="1"/>
              <a:t>关系图</a:t>
            </a:r>
            <a:r>
              <a:rPr lang="en-US" altLang="zh-CN" sz="4400" b="1"/>
              <a:t> (</a:t>
            </a:r>
            <a:r>
              <a:rPr lang="zh-CN" altLang="en-US" sz="4400" b="1"/>
              <a:t>总览</a:t>
            </a:r>
            <a:r>
              <a:rPr lang="en-US" altLang="zh-CN" sz="4400" b="1"/>
              <a:t>)</a:t>
            </a:r>
            <a:endParaRPr lang="zh-CN" altLang="en-US" sz="4400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 24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F6F7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>
              <a:highlight>
                <a:srgbClr val="FFFF00"/>
              </a:highlight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1050145" y="2436087"/>
            <a:ext cx="5984240" cy="60877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3200" b="1" kern="0" spc="-1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3NF</a:t>
            </a:r>
            <a:r>
              <a:rPr sz="3200" b="1" kern="0" spc="-17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范式设计</a:t>
            </a:r>
            <a:endParaRPr sz="3200" dirty="0">
              <a:latin typeface="黑体"/>
              <a:ea typeface="黑体"/>
              <a:cs typeface="黑体"/>
            </a:endParaRPr>
          </a:p>
          <a:p>
            <a:pPr marL="12700" algn="l" rtl="0" eaLnBrk="0">
              <a:lnSpc>
                <a:spcPct val="94000"/>
              </a:lnSpc>
              <a:spcBef>
                <a:spcPts val="820"/>
              </a:spcBef>
            </a:pPr>
            <a:r>
              <a:rPr sz="2200" kern="0" spc="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严格遵循第三范式，将实体(如用户、课程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、</a:t>
            </a:r>
            <a:endParaRPr sz="2200" dirty="0">
              <a:latin typeface="黑体"/>
              <a:ea typeface="黑体"/>
              <a:cs typeface="黑体"/>
            </a:endParaRPr>
          </a:p>
          <a:p>
            <a:pPr marL="12700" algn="l" rtl="0" eaLnBrk="0">
              <a:lnSpc>
                <a:spcPct val="123000"/>
              </a:lnSpc>
              <a:spcBef>
                <a:spcPts val="105"/>
              </a:spcBef>
            </a:pPr>
            <a:r>
              <a:rPr sz="2200" kern="0" spc="9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资源)的元数据独立存储，</a:t>
            </a:r>
            <a:r>
              <a:rPr sz="2200" kern="0" spc="8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从根本上消除数据冗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2200" kern="0" spc="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余，保证了数据一致性。</a:t>
            </a:r>
            <a:endParaRPr sz="22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7780" algn="l" rtl="0" eaLnBrk="0">
              <a:lnSpc>
                <a:spcPct val="96000"/>
              </a:lnSpc>
              <a:spcBef>
                <a:spcPts val="900"/>
              </a:spcBef>
            </a:pPr>
            <a:r>
              <a:rPr sz="3000" b="1" kern="0" spc="-110" dirty="0">
                <a:solidFill>
                  <a:srgbClr val="20304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反范式优化</a:t>
            </a:r>
            <a:endParaRPr sz="3000" dirty="0">
              <a:latin typeface="黑体"/>
              <a:ea typeface="黑体"/>
              <a:cs typeface="黑体"/>
            </a:endParaRPr>
          </a:p>
          <a:p>
            <a:pPr marL="12700" algn="l" rtl="0" eaLnBrk="0">
              <a:lnSpc>
                <a:spcPct val="94000"/>
              </a:lnSpc>
              <a:spcBef>
                <a:spcPts val="835"/>
              </a:spcBef>
            </a:pPr>
            <a:r>
              <a:rPr sz="2200" kern="0" spc="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在课程列表等高频查询场景，适度引入</a:t>
            </a:r>
            <a:endParaRPr sz="2200" dirty="0">
              <a:latin typeface="黑体"/>
              <a:ea typeface="黑体"/>
              <a:cs typeface="黑体"/>
            </a:endParaRPr>
          </a:p>
          <a:p>
            <a:pPr marL="12700" algn="l" rtl="0" eaLnBrk="0">
              <a:lnSpc>
                <a:spcPct val="113000"/>
              </a:lnSpc>
              <a:spcBef>
                <a:spcPts val="735"/>
              </a:spcBef>
            </a:pPr>
            <a:r>
              <a:rPr sz="2200" kern="0" spc="0" dirty="0">
                <a:solidFill>
                  <a:srgbClr val="A0804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class</a:t>
            </a:r>
            <a:r>
              <a:rPr sz="2200" u="dotted" kern="0" spc="90" dirty="0">
                <a:solidFill>
                  <a:srgbClr val="A0804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</a:t>
            </a:r>
            <a:r>
              <a:rPr sz="2200" kern="0" spc="-480" dirty="0">
                <a:solidFill>
                  <a:srgbClr val="A0804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200" kern="0" spc="0" dirty="0">
                <a:solidFill>
                  <a:srgbClr val="A0804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hour</a:t>
            </a:r>
            <a:r>
              <a:rPr sz="2200" kern="0" spc="90" dirty="0">
                <a:solidFill>
                  <a:srgbClr val="A0804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</a:t>
            </a:r>
            <a:r>
              <a:rPr sz="2200" kern="0" spc="9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(课时数)等冗余字段，以空间换时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2200" kern="0" spc="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间，避免了昂贵的实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时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JOIN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操作。</a:t>
            </a:r>
            <a:endParaRPr sz="22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7780" algn="l" rtl="0" eaLnBrk="0">
              <a:lnSpc>
                <a:spcPct val="96000"/>
              </a:lnSpc>
              <a:spcBef>
                <a:spcPts val="905"/>
              </a:spcBef>
            </a:pPr>
            <a:r>
              <a:rPr sz="3000" b="1" kern="0" spc="-110" dirty="0">
                <a:solidFill>
                  <a:srgbClr val="10304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全局逻辑删除</a:t>
            </a:r>
            <a:endParaRPr sz="3000" dirty="0">
              <a:latin typeface="黑体"/>
              <a:ea typeface="黑体"/>
              <a:cs typeface="黑体"/>
            </a:endParaRPr>
          </a:p>
          <a:p>
            <a:pPr marL="12700" algn="l" rtl="0" eaLnBrk="0">
              <a:lnSpc>
                <a:spcPct val="120000"/>
              </a:lnSpc>
              <a:spcBef>
                <a:spcPts val="385"/>
              </a:spcBef>
            </a:pPr>
            <a:r>
              <a:rPr sz="2200" kern="0" spc="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系统所有核心表均采用</a:t>
            </a:r>
            <a:r>
              <a:rPr sz="2200" kern="0" spc="0" dirty="0">
                <a:solidFill>
                  <a:srgbClr val="90804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deleted</a:t>
            </a:r>
            <a:r>
              <a:rPr sz="2200" u="dotted" kern="0" spc="10" dirty="0">
                <a:solidFill>
                  <a:srgbClr val="90804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</a:t>
            </a:r>
            <a:r>
              <a:rPr sz="2200" kern="0" spc="-490" dirty="0">
                <a:solidFill>
                  <a:srgbClr val="90804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200" kern="0" spc="0" dirty="0">
                <a:solidFill>
                  <a:srgbClr val="90804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at</a:t>
            </a:r>
            <a:r>
              <a:rPr sz="2200" kern="0" spc="510" dirty="0">
                <a:solidFill>
                  <a:srgbClr val="90804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200" kern="0" spc="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字段实现软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  </a:t>
            </a:r>
            <a:r>
              <a:rPr sz="2200" kern="0" spc="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删除。这一设计不仅防止了误操作导致的数据丢</a:t>
            </a:r>
            <a:r>
              <a:rPr sz="2200" kern="0" spc="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2200" kern="0" spc="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失，更为后续的数据审计与恢复提供了保障。</a:t>
            </a:r>
            <a:endParaRPr sz="2200" dirty="0">
              <a:latin typeface="黑体"/>
              <a:ea typeface="黑体"/>
              <a:cs typeface="黑体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1050212" y="1059316"/>
            <a:ext cx="9854565" cy="730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6000"/>
              </a:lnSpc>
              <a:spcBef>
                <a:spcPts val="0"/>
              </a:spcBef>
            </a:pPr>
            <a:r>
              <a:rPr sz="4800" b="1" kern="0" spc="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数据基石：核心实体关系与设计哲学</a:t>
            </a:r>
            <a:endParaRPr sz="4800" dirty="0">
              <a:latin typeface="黑体"/>
              <a:ea typeface="黑体"/>
              <a:cs typeface="黑体"/>
            </a:endParaRPr>
          </a:p>
        </p:txBody>
      </p:sp>
      <p:pic>
        <p:nvPicPr>
          <p:cNvPr id="5" name="图片 4" descr="post_object_image_18968915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2306" y="2312420"/>
            <a:ext cx="3733800" cy="6515100"/>
          </a:xfrm>
          <a:prstGeom prst="rect">
            <a:avLst/>
          </a:prstGeom>
        </p:spPr>
      </p:pic>
      <p:cxnSp>
        <p:nvCxnSpPr>
          <p:cNvPr id="6" name="直接箭头连接符 5"/>
          <p:cNvCxnSpPr/>
          <p:nvPr userDrawn="1"/>
        </p:nvCxnSpPr>
        <p:spPr>
          <a:xfrm>
            <a:off x="8791575" y="3045460"/>
            <a:ext cx="3475990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 userDrawn="1"/>
        </p:nvCxnSpPr>
        <p:spPr>
          <a:xfrm>
            <a:off x="9733915" y="4946015"/>
            <a:ext cx="2363890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 userDrawn="1"/>
        </p:nvCxnSpPr>
        <p:spPr>
          <a:xfrm>
            <a:off x="10382885" y="8051165"/>
            <a:ext cx="1853546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 userDrawn="1"/>
        </p:nvSpPr>
        <p:spPr>
          <a:xfrm>
            <a:off x="12530478" y="2722948"/>
            <a:ext cx="3615055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zh-CN" altLang="en-US"/>
              <a:t>只存</a:t>
            </a:r>
            <a:r>
              <a:rPr lang="en-US" altLang="zh-CN"/>
              <a:t> ID</a:t>
            </a:r>
            <a:r>
              <a:rPr lang="zh-CN" altLang="en-US"/>
              <a:t>，不存管理员姓名，这就是</a:t>
            </a:r>
            <a:r>
              <a:rPr lang="en-US" altLang="zh-CN"/>
              <a:t> 3NF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10" name="文本框 9"/>
          <p:cNvSpPr txBox="1"/>
          <p:nvPr userDrawn="1"/>
        </p:nvSpPr>
        <p:spPr>
          <a:xfrm>
            <a:off x="12576810" y="4729480"/>
            <a:ext cx="3877945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zh-CN" altLang="en-US"/>
              <a:t>这本来应该去另一张表</a:t>
            </a:r>
            <a:r>
              <a:rPr lang="en-US" altLang="zh-CN"/>
              <a:t> count </a:t>
            </a:r>
            <a:r>
              <a:rPr lang="zh-CN" altLang="en-US"/>
              <a:t>出来的，这里直接存了数字，以空间换时间。</a:t>
            </a:r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2607290" y="7804150"/>
            <a:ext cx="3955415" cy="36830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zh-CN" altLang="en-US"/>
              <a:t>不是直接删记录，而是打时间戳，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 42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F7F6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 rot="21600000">
            <a:off x="863624" y="2114581"/>
            <a:ext cx="15944896" cy="4737030"/>
            <a:chOff x="0" y="0"/>
            <a:chExt cx="15944896" cy="4737030"/>
          </a:xfrm>
        </p:grpSpPr>
        <p:pic>
          <p:nvPicPr>
            <p:cNvPr id="44" name="picture 4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15944896" cy="4737030"/>
            </a:xfrm>
            <a:prstGeom prst="rect">
              <a:avLst/>
            </a:prstGeom>
          </p:spPr>
        </p:pic>
        <p:sp>
          <p:nvSpPr>
            <p:cNvPr id="46" name="textbox 46"/>
            <p:cNvSpPr/>
            <p:nvPr/>
          </p:nvSpPr>
          <p:spPr>
            <a:xfrm>
              <a:off x="12344362" y="69174"/>
              <a:ext cx="3597909" cy="44932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5000"/>
                </a:lnSpc>
              </a:pPr>
              <a:endPara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95000"/>
                </a:lnSpc>
              </a:pPr>
              <a:endPara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95000"/>
                </a:lnSpc>
              </a:pPr>
              <a:r>
                <a:rPr sz="20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admin</a:t>
              </a:r>
              <a:r>
                <a:rPr sz="2000" kern="0" spc="19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_</a:t>
              </a:r>
              <a:r>
                <a:rPr sz="20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users</a:t>
              </a:r>
              <a:endParaRPr sz="2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2700" algn="l" rtl="0" eaLnBrk="0">
                <a:lnSpc>
                  <a:spcPts val="2770"/>
                </a:lnSpc>
              </a:pPr>
              <a:r>
                <a:rPr sz="20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admin</a:t>
              </a:r>
              <a:r>
                <a:rPr sz="2000" kern="0" spc="17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_</a:t>
              </a:r>
              <a:r>
                <a:rPr sz="20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roles</a:t>
              </a:r>
              <a:endParaRPr sz="2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2700" algn="l" rtl="0" eaLnBrk="0">
                <a:lnSpc>
                  <a:spcPts val="2645"/>
                </a:lnSpc>
                <a:spcBef>
                  <a:spcPts val="155"/>
                </a:spcBef>
              </a:pPr>
              <a:r>
                <a:rPr sz="2000" kern="0" spc="2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admin_permissio</a:t>
              </a:r>
              <a:r>
                <a:rPr sz="2000" kern="0" spc="1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ns</a:t>
              </a:r>
              <a:endParaRPr sz="2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2700" algn="l" rtl="0" eaLnBrk="0">
                <a:lnSpc>
                  <a:spcPts val="2645"/>
                </a:lnSpc>
              </a:pPr>
              <a:r>
                <a:rPr sz="20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admin</a:t>
              </a:r>
              <a:r>
                <a:rPr sz="2000" kern="0" spc="13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_</a:t>
              </a:r>
              <a:r>
                <a:rPr sz="20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user</a:t>
              </a:r>
              <a:r>
                <a:rPr sz="2000" kern="0" spc="13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_</a:t>
              </a:r>
              <a:r>
                <a:rPr sz="20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role</a:t>
              </a:r>
              <a:endParaRPr sz="2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2700" algn="l" rtl="0" eaLnBrk="0">
                <a:lnSpc>
                  <a:spcPts val="2795"/>
                </a:lnSpc>
                <a:spcBef>
                  <a:spcPts val="105"/>
                </a:spcBef>
              </a:pPr>
              <a:r>
                <a:rPr sz="20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admin</a:t>
              </a:r>
              <a:r>
                <a:rPr sz="2000" kern="0" spc="20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_</a:t>
              </a:r>
              <a:r>
                <a:rPr sz="20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role</a:t>
              </a:r>
              <a:r>
                <a:rPr sz="2000" kern="0" spc="20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_</a:t>
              </a:r>
              <a:r>
                <a:rPr sz="20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permission</a:t>
              </a:r>
              <a:endParaRPr sz="2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939165" algn="l" rtl="0" eaLnBrk="0">
                <a:lnSpc>
                  <a:spcPts val="2385"/>
                </a:lnSpc>
                <a:spcBef>
                  <a:spcPts val="1530"/>
                </a:spcBef>
              </a:pPr>
              <a:r>
                <a:rPr sz="1700" kern="0" spc="2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admin_permissi</a:t>
              </a:r>
              <a:r>
                <a:rPr sz="1700" kern="0" spc="1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ons</a:t>
              </a:r>
              <a:endParaRPr sz="17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615315" algn="l" rtl="0" eaLnBrk="0">
                <a:lnSpc>
                  <a:spcPts val="3270"/>
                </a:lnSpc>
              </a:pPr>
              <a:r>
                <a:rPr sz="2000" kern="0" spc="-3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id</a:t>
              </a:r>
              <a:endParaRPr sz="2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615315" algn="l" rtl="0" eaLnBrk="0">
                <a:lnSpc>
                  <a:spcPts val="2385"/>
                </a:lnSpc>
                <a:spcBef>
                  <a:spcPts val="225"/>
                </a:spcBef>
              </a:pP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slug</a:t>
              </a:r>
              <a:r>
                <a:rPr sz="1700" kern="0" spc="53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 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  <a:cs typeface="黑体"/>
                </a:rPr>
                <a:t>(人类可读唯一标识)</a:t>
              </a:r>
              <a:endParaRPr sz="1700" dirty="0">
                <a:latin typeface="黑体"/>
                <a:ea typeface="黑体"/>
                <a:cs typeface="黑体"/>
              </a:endParaRPr>
            </a:p>
            <a:p>
              <a:pPr marL="615315" algn="l" rtl="0" eaLnBrk="0">
                <a:lnSpc>
                  <a:spcPct val="67000"/>
                </a:lnSpc>
                <a:spcBef>
                  <a:spcPts val="1410"/>
                </a:spcBef>
              </a:pPr>
              <a:r>
                <a:rPr sz="1600" b="1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name</a:t>
              </a:r>
              <a:endParaRPr sz="1600" b="1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615315" algn="l" rtl="0" eaLnBrk="0">
                <a:lnSpc>
                  <a:spcPts val="2385"/>
                </a:lnSpc>
                <a:spcBef>
                  <a:spcPts val="660"/>
                </a:spcBef>
              </a:pPr>
              <a:r>
                <a:rPr sz="1700" kern="0" spc="1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description</a:t>
              </a:r>
              <a:endParaRPr sz="17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615315" algn="l" rtl="0" eaLnBrk="0">
                <a:lnSpc>
                  <a:spcPts val="2385"/>
                </a:lnSpc>
                <a:spcBef>
                  <a:spcPts val="315"/>
                </a:spcBef>
              </a:pP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created</a:t>
              </a:r>
              <a:r>
                <a:rPr sz="1700" kern="0" spc="12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_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at</a:t>
              </a:r>
              <a:endParaRPr sz="17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sp>
        <p:nvSpPr>
          <p:cNvPr id="48" name="textbox 48"/>
          <p:cNvSpPr/>
          <p:nvPr/>
        </p:nvSpPr>
        <p:spPr>
          <a:xfrm>
            <a:off x="933407" y="7207786"/>
            <a:ext cx="15447010" cy="20237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6510" algn="l" rtl="0" eaLnBrk="0">
              <a:lnSpc>
                <a:spcPct val="96000"/>
              </a:lnSpc>
            </a:pPr>
            <a:r>
              <a:rPr sz="2400" b="1" kern="0" spc="-7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设计精髓：彻底解耦</a:t>
            </a:r>
            <a:endParaRPr sz="2400" dirty="0">
              <a:latin typeface="黑体"/>
              <a:ea typeface="黑体"/>
              <a:cs typeface="黑体"/>
            </a:endParaRPr>
          </a:p>
          <a:p>
            <a:pPr marL="12700" algn="l" rtl="0" eaLnBrk="0">
              <a:lnSpc>
                <a:spcPct val="87000"/>
              </a:lnSpc>
              <a:spcBef>
                <a:spcPts val="1160"/>
              </a:spcBef>
            </a:pPr>
            <a:r>
              <a:rPr sz="2000" kern="0" spc="-1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该模型将“用户”与"权限"完全分离，通过“角色”作为桥梁进行</a:t>
            </a:r>
            <a:r>
              <a:rPr sz="2000" kern="0" spc="-1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动态绑定。管理员只需调整角色分配，即可灵活变更用户权限，无需修改代码。</a:t>
            </a:r>
            <a:endParaRPr sz="2000" dirty="0">
              <a:latin typeface="黑体"/>
              <a:ea typeface="黑体"/>
              <a:cs typeface="黑体"/>
            </a:endParaRPr>
          </a:p>
          <a:p>
            <a:pPr marL="16510" algn="l" rtl="0" eaLnBrk="0">
              <a:lnSpc>
                <a:spcPts val="5280"/>
              </a:lnSpc>
            </a:pPr>
            <a:r>
              <a:rPr sz="2400" b="1" kern="0" spc="-7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可维护性设计</a:t>
            </a:r>
            <a:endParaRPr sz="1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2795"/>
              </a:lnSpc>
            </a:pP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权限点采用人类可读的字符串(如</a:t>
            </a:r>
            <a:r>
              <a:rPr sz="2000" kern="0" spc="-10" dirty="0">
                <a:solidFill>
                  <a:srgbClr val="C0703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'course-update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')作为唯一标识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lug,   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而非硬编码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ID,</a:t>
            </a:r>
            <a:r>
              <a:rPr sz="2000" kern="0" spc="1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极大提升了代码的可读性与后期维护效率。</a:t>
            </a:r>
            <a:endParaRPr sz="2000" dirty="0">
              <a:latin typeface="黑体"/>
              <a:ea typeface="黑体"/>
              <a:cs typeface="黑体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942850" y="918688"/>
            <a:ext cx="13703300" cy="787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5200" b="1" kern="0" spc="-100" dirty="0">
                <a:solidFill>
                  <a:srgbClr val="B0803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支柱一</a:t>
            </a:r>
            <a:r>
              <a:rPr sz="5200" kern="0" spc="-1790" dirty="0">
                <a:solidFill>
                  <a:srgbClr val="B0803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5200" b="1" kern="0" spc="-10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·</a:t>
            </a:r>
            <a:r>
              <a:rPr sz="5200" b="1" kern="0" spc="-100" dirty="0">
                <a:solidFill>
                  <a:srgbClr val="20305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权限基石：构建灵活解耦的</a:t>
            </a:r>
            <a:r>
              <a:rPr sz="5200" b="1" kern="0" spc="-100" dirty="0">
                <a:solidFill>
                  <a:srgbClr val="20305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RBAC</a:t>
            </a:r>
            <a:r>
              <a:rPr sz="5200" b="1" kern="0" spc="-100" dirty="0">
                <a:solidFill>
                  <a:srgbClr val="20305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模型</a:t>
            </a:r>
            <a:endParaRPr sz="5200" dirty="0">
              <a:latin typeface="黑体"/>
              <a:ea typeface="黑体"/>
              <a:cs typeface="黑体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933407" y="2180769"/>
            <a:ext cx="7294880" cy="1153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6510" algn="l" rtl="0" eaLnBrk="0">
              <a:lnSpc>
                <a:spcPct val="96000"/>
              </a:lnSpc>
            </a:pPr>
            <a:r>
              <a:rPr sz="2400" b="1" kern="0" spc="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挑战</a:t>
            </a:r>
            <a:endParaRPr sz="2400" dirty="0">
              <a:latin typeface="黑体"/>
              <a:ea typeface="黑体"/>
              <a:cs typeface="黑体"/>
            </a:endParaRPr>
          </a:p>
          <a:p>
            <a:pPr marL="12700" algn="l" rtl="0" eaLnBrk="0">
              <a:lnSpc>
                <a:spcPct val="87000"/>
              </a:lnSpc>
              <a:spcBef>
                <a:spcPts val="1125"/>
              </a:spcBef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如何设计一个既能满足当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前权限需求，又能轻松扩展的后台访问控</a:t>
            </a:r>
            <a:endParaRPr sz="2000" dirty="0">
              <a:latin typeface="黑体"/>
              <a:ea typeface="黑体"/>
              <a:cs typeface="黑体"/>
            </a:endParaRPr>
          </a:p>
          <a:p>
            <a:pPr marL="12700" algn="l" rtl="0" eaLnBrk="0">
              <a:lnSpc>
                <a:spcPts val="2890"/>
              </a:lnSpc>
            </a:pP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制系统?</a:t>
            </a:r>
            <a:endParaRPr sz="2000" dirty="0">
              <a:latin typeface="黑体"/>
              <a:ea typeface="黑体"/>
              <a:cs typeface="黑体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4578384" y="4017713"/>
            <a:ext cx="4485640" cy="1456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2385"/>
              </a:lnSpc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admin</a:t>
            </a:r>
            <a:r>
              <a:rPr sz="1700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_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user</a:t>
            </a:r>
            <a:r>
              <a:rPr sz="1700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_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role</a:t>
            </a:r>
            <a:endParaRPr sz="1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3050"/>
              </a:lnSpc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user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_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id</a:t>
            </a:r>
            <a:endParaRPr sz="1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2635"/>
              </a:lnSpc>
              <a:spcBef>
                <a:spcPts val="165"/>
              </a:spcBef>
            </a:pPr>
            <a:r>
              <a:rPr sz="2600" kern="0" spc="0" baseline="80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role</a:t>
            </a:r>
            <a:r>
              <a:rPr sz="2600" kern="0" spc="110" baseline="80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_</a:t>
            </a:r>
            <a:r>
              <a:rPr sz="2600" kern="0" spc="0" baseline="80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id</a:t>
            </a:r>
            <a:r>
              <a:rPr sz="16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                  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           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admin</a:t>
            </a:r>
            <a:r>
              <a:rPr sz="1700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_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roles</a:t>
            </a:r>
            <a:endParaRPr sz="1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6000"/>
              </a:lnSpc>
            </a:pPr>
            <a:endParaRPr sz="5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75915" algn="l" rtl="0" eaLnBrk="0">
              <a:lnSpc>
                <a:spcPts val="2385"/>
              </a:lnSpc>
              <a:spcBef>
                <a:spcPts val="5"/>
              </a:spcBef>
            </a:pPr>
            <a:r>
              <a:rPr sz="17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id</a:t>
            </a:r>
            <a:endParaRPr sz="17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6" name="textbox 56"/>
          <p:cNvSpPr/>
          <p:nvPr/>
        </p:nvSpPr>
        <p:spPr>
          <a:xfrm>
            <a:off x="8569387" y="2177415"/>
            <a:ext cx="4400550" cy="11918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635" algn="l" rtl="0" eaLnBrk="0">
              <a:lnSpc>
                <a:spcPct val="95000"/>
              </a:lnSpc>
            </a:pPr>
            <a:r>
              <a:rPr sz="2400" b="1" kern="0" spc="-8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我们的方案：经典五表模型</a:t>
            </a:r>
            <a:endParaRPr sz="2400" dirty="0">
              <a:latin typeface="黑体"/>
              <a:ea typeface="黑体"/>
              <a:cs typeface="黑体"/>
            </a:endParaRPr>
          </a:p>
          <a:p>
            <a:pPr marL="123825" algn="l" rtl="0" eaLnBrk="0">
              <a:lnSpc>
                <a:spcPts val="2795"/>
              </a:lnSpc>
              <a:spcBef>
                <a:spcPts val="810"/>
              </a:spcBef>
            </a:pPr>
            <a:r>
              <a:rPr sz="2000" kern="0" spc="-1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该用</a:t>
            </a:r>
            <a:r>
              <a:rPr sz="2000" kern="0" spc="-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admin</a:t>
            </a:r>
            <a:r>
              <a:rPr sz="2000" kern="0" spc="-1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“用户”与“权限”通过</a:t>
            </a:r>
            <a:endParaRPr sz="2000" dirty="0">
              <a:latin typeface="黑体"/>
              <a:ea typeface="黑体"/>
              <a:cs typeface="黑体"/>
            </a:endParaRPr>
          </a:p>
          <a:p>
            <a:pPr marL="142875" algn="l" rtl="0" eaLnBrk="0">
              <a:lnSpc>
                <a:spcPct val="98000"/>
              </a:lnSpc>
              <a:spcBef>
                <a:spcPts val="475"/>
              </a:spcBef>
            </a:pPr>
            <a:r>
              <a:rPr sz="2000" kern="0" spc="-14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“角色”,作为桥梁进行访问动态绑定。</a:t>
            </a:r>
            <a:endParaRPr sz="2000" dirty="0">
              <a:latin typeface="黑体"/>
              <a:ea typeface="黑体"/>
              <a:cs typeface="黑体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10433100" y="4024053"/>
            <a:ext cx="2314575" cy="10782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877" rIns="0" bIns="0"/>
          <a:lstStyle/>
          <a:p>
            <a:pPr marL="12700" algn="l" rtl="0" eaLnBrk="0">
              <a:lnSpc>
                <a:spcPct val="136000"/>
              </a:lnSpc>
              <a:spcBef>
                <a:spcPts val="5"/>
              </a:spcBef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admin</a:t>
            </a:r>
            <a:r>
              <a:rPr sz="1700" kern="0" spc="1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_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role</a:t>
            </a:r>
            <a:r>
              <a:rPr sz="1700" kern="0" spc="1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_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permission</a:t>
            </a:r>
            <a:r>
              <a:rPr sz="17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role_id</a:t>
            </a:r>
            <a:endParaRPr sz="1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2385"/>
              </a:lnSpc>
              <a:spcBef>
                <a:spcPts val="445"/>
              </a:spcBef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permission</a:t>
            </a:r>
            <a:r>
              <a:rPr sz="1700" kern="0" spc="1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_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id</a:t>
            </a:r>
            <a:endParaRPr sz="17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1073208" y="5452263"/>
            <a:ext cx="1545589" cy="12115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1090"/>
              </a:lnSpc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username</a:t>
            </a:r>
            <a:endParaRPr sz="14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129000"/>
              </a:lnSpc>
              <a:spcBef>
                <a:spcPts val="605"/>
              </a:spcBef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password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_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hash</a:t>
            </a:r>
            <a:r>
              <a:rPr sz="17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email</a:t>
            </a:r>
            <a:endParaRPr sz="1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2385"/>
              </a:lnSpc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created</a:t>
            </a:r>
            <a:r>
              <a:rPr sz="1700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_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at</a:t>
            </a:r>
            <a:endParaRPr sz="17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2" name="textbox 62"/>
          <p:cNvSpPr/>
          <p:nvPr/>
        </p:nvSpPr>
        <p:spPr>
          <a:xfrm>
            <a:off x="1073209" y="4551040"/>
            <a:ext cx="1786889" cy="7512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ts val="2385"/>
              </a:lnSpc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admin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_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users</a:t>
            </a:r>
            <a:endParaRPr sz="1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3325"/>
              </a:lnSpc>
            </a:pPr>
            <a:r>
              <a:rPr sz="17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id</a:t>
            </a:r>
            <a:endParaRPr sz="17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4" name="textbox 64"/>
          <p:cNvSpPr/>
          <p:nvPr/>
        </p:nvSpPr>
        <p:spPr>
          <a:xfrm>
            <a:off x="7442219" y="5623731"/>
            <a:ext cx="1092835" cy="8839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1090"/>
              </a:lnSpc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name</a:t>
            </a:r>
            <a:endParaRPr sz="14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9000"/>
              </a:lnSpc>
            </a:pPr>
            <a:endParaRPr sz="4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125000"/>
              </a:lnSpc>
            </a:pP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description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created</a:t>
            </a:r>
            <a:r>
              <a:rPr sz="1700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_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at</a:t>
            </a:r>
            <a:endParaRPr sz="17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880267" y="6489655"/>
            <a:ext cx="8674163" cy="2298728"/>
          </a:xfrm>
          <a:prstGeom prst="rect">
            <a:avLst/>
          </a:prstGeom>
        </p:spPr>
      </p:pic>
      <p:sp>
        <p:nvSpPr>
          <p:cNvPr id="70" name="textbox 70"/>
          <p:cNvSpPr/>
          <p:nvPr/>
        </p:nvSpPr>
        <p:spPr>
          <a:xfrm>
            <a:off x="939873" y="6079799"/>
            <a:ext cx="6271259" cy="27412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4765" algn="l" rtl="0" eaLnBrk="0">
              <a:lnSpc>
                <a:spcPct val="96000"/>
              </a:lnSpc>
            </a:pPr>
            <a:r>
              <a:rPr sz="3300" kern="0" spc="-160" dirty="0">
                <a:solidFill>
                  <a:srgbClr val="10203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精细化数据安全</a:t>
            </a:r>
            <a:endParaRPr sz="3300" dirty="0">
              <a:latin typeface="黑体"/>
              <a:ea typeface="黑体"/>
              <a:cs typeface="黑体"/>
            </a:endParaRPr>
          </a:p>
          <a:p>
            <a:pPr marL="12700" algn="l" rtl="0" eaLnBrk="0">
              <a:lnSpc>
                <a:spcPct val="87000"/>
              </a:lnSpc>
              <a:spcBef>
                <a:spcPts val="1045"/>
              </a:spcBef>
            </a:pPr>
            <a:r>
              <a:rPr sz="2200" kern="0" spc="4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挑战：不同级别的管理</a:t>
            </a:r>
            <a:r>
              <a:rPr sz="2200" kern="0" spc="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员对用户手机号、邮箱等敏</a:t>
            </a:r>
            <a:endParaRPr sz="2200" dirty="0">
              <a:latin typeface="黑体"/>
              <a:ea typeface="黑体"/>
              <a:cs typeface="黑体"/>
            </a:endParaRPr>
          </a:p>
          <a:p>
            <a:pPr marL="31115" algn="l" rtl="0" eaLnBrk="0">
              <a:lnSpc>
                <a:spcPts val="3200"/>
              </a:lnSpc>
            </a:pPr>
            <a:r>
              <a:rPr sz="2200" kern="0" spc="-8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感信息的可见性要求不</a:t>
            </a:r>
            <a:r>
              <a:rPr sz="2200" kern="0" spc="-9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同。</a:t>
            </a:r>
            <a:endParaRPr sz="22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01000"/>
              </a:lnSpc>
            </a:pPr>
            <a:endParaRPr sz="14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1115" indent="-12700" algn="l" rtl="0" eaLnBrk="0">
              <a:lnSpc>
                <a:spcPct val="118000"/>
              </a:lnSpc>
              <a:spcBef>
                <a:spcPts val="5"/>
              </a:spcBef>
            </a:pPr>
            <a:r>
              <a:rPr sz="2200" kern="0" spc="6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方案：在数据实体</a:t>
            </a:r>
            <a:r>
              <a:rPr sz="2200" kern="0" spc="-18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2200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Entity</a:t>
            </a:r>
            <a:r>
              <a:rPr sz="2200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)   </a:t>
            </a:r>
            <a:r>
              <a:rPr sz="2200" kern="0" spc="6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层，通过自定</a:t>
            </a:r>
            <a:r>
              <a:rPr sz="2200" kern="0" spc="5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义序列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2200" kern="0" spc="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化逻辑，根据当前登</a:t>
            </a:r>
            <a:r>
              <a:rPr sz="2200" kern="0" spc="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录管理员的角色动态决定是否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2200" kern="0" spc="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否脱敏，实现了字段级别的精准访问控制。</a:t>
            </a:r>
            <a:endParaRPr sz="2200" dirty="0">
              <a:latin typeface="黑体"/>
              <a:ea typeface="黑体"/>
              <a:cs typeface="黑体"/>
            </a:endParaRPr>
          </a:p>
        </p:txBody>
      </p:sp>
      <p:pic>
        <p:nvPicPr>
          <p:cNvPr id="72" name="picture 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52573" y="2901989"/>
            <a:ext cx="9289991" cy="1720827"/>
          </a:xfrm>
          <a:prstGeom prst="rect">
            <a:avLst/>
          </a:prstGeom>
        </p:spPr>
      </p:pic>
      <p:sp>
        <p:nvSpPr>
          <p:cNvPr id="74" name="textbox 74"/>
          <p:cNvSpPr/>
          <p:nvPr/>
        </p:nvSpPr>
        <p:spPr>
          <a:xfrm>
            <a:off x="10998248" y="2207679"/>
            <a:ext cx="5508625" cy="22263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2200" kern="0" spc="4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通过自定义@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BackendPermission</a:t>
            </a:r>
            <a:r>
              <a:rPr sz="2200" kern="0" spc="4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注解结合</a:t>
            </a:r>
            <a:endParaRPr sz="2200" dirty="0">
              <a:latin typeface="黑体"/>
              <a:ea typeface="黑体"/>
              <a:cs typeface="黑体"/>
            </a:endParaRPr>
          </a:p>
          <a:p>
            <a:pPr marL="18415" indent="-5715" algn="l" rtl="0" eaLnBrk="0">
              <a:lnSpc>
                <a:spcPct val="109000"/>
              </a:lnSpc>
              <a:spcBef>
                <a:spcPts val="280"/>
              </a:spcBef>
            </a:pP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Spring AOP, 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实现声明式权限控制，将权限逻</a:t>
            </a:r>
            <a:r>
              <a:rPr sz="2200" kern="0" spc="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2200" kern="0" spc="-10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辑与业务代码完全分离。</a:t>
            </a:r>
            <a:endParaRPr sz="22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78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2960"/>
              </a:lnSpc>
              <a:spcBef>
                <a:spcPts val="660"/>
              </a:spcBef>
            </a:pPr>
            <a:r>
              <a:rPr sz="2200" kern="0" spc="70" dirty="0">
                <a:solidFill>
                  <a:srgbClr val="A0805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@</a:t>
            </a:r>
            <a:r>
              <a:rPr sz="2200" kern="0" spc="0" dirty="0">
                <a:solidFill>
                  <a:srgbClr val="A0805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BackendPermission</a:t>
            </a:r>
            <a:r>
              <a:rPr sz="2200" kern="0" spc="70" dirty="0">
                <a:solidFill>
                  <a:srgbClr val="A0805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("</a:t>
            </a:r>
            <a:r>
              <a:rPr sz="2200" kern="0" spc="0" dirty="0">
                <a:solidFill>
                  <a:srgbClr val="A0805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course</a:t>
            </a:r>
            <a:r>
              <a:rPr sz="2200" kern="0" spc="70" dirty="0">
                <a:solidFill>
                  <a:srgbClr val="A0805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-</a:t>
            </a:r>
            <a:r>
              <a:rPr sz="2200" kern="0" spc="0" dirty="0">
                <a:solidFill>
                  <a:srgbClr val="A0805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update</a:t>
            </a:r>
            <a:r>
              <a:rPr sz="2200" kern="0" spc="70" dirty="0">
                <a:solidFill>
                  <a:srgbClr val="A0805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")</a:t>
            </a:r>
            <a:endParaRPr sz="22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8415" algn="l" rtl="0" eaLnBrk="0">
              <a:lnSpc>
                <a:spcPts val="2960"/>
              </a:lnSpc>
            </a:pP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public</a:t>
            </a:r>
            <a:r>
              <a:rPr sz="22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void</a:t>
            </a:r>
            <a:r>
              <a:rPr sz="22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updateCourse</a:t>
            </a:r>
            <a:r>
              <a:rPr sz="22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(...)</a:t>
            </a:r>
            <a:endParaRPr sz="22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6" name="textbox 76"/>
          <p:cNvSpPr/>
          <p:nvPr/>
        </p:nvSpPr>
        <p:spPr>
          <a:xfrm>
            <a:off x="1028646" y="839222"/>
            <a:ext cx="14241780" cy="8153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96000"/>
              </a:lnSpc>
            </a:pPr>
            <a:r>
              <a:rPr sz="5400" kern="0" spc="-9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自动化访问控制：从</a:t>
            </a:r>
            <a:r>
              <a:rPr sz="5400" kern="0" spc="-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AOP</a:t>
            </a:r>
            <a:r>
              <a:rPr sz="5400" kern="0" spc="-9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拦截到字段级数据脱</a:t>
            </a:r>
            <a:r>
              <a:rPr sz="5400" kern="0" spc="-10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敏</a:t>
            </a:r>
            <a:endParaRPr sz="5400" dirty="0">
              <a:latin typeface="黑体"/>
              <a:ea typeface="黑体"/>
              <a:cs typeface="黑体"/>
            </a:endParaRPr>
          </a:p>
        </p:txBody>
      </p:sp>
      <p:sp>
        <p:nvSpPr>
          <p:cNvPr id="78" name="textbox 78"/>
          <p:cNvSpPr/>
          <p:nvPr/>
        </p:nvSpPr>
        <p:spPr>
          <a:xfrm>
            <a:off x="946164" y="4743371"/>
            <a:ext cx="9534525" cy="351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97000"/>
              </a:lnSpc>
            </a:pPr>
            <a:r>
              <a:rPr sz="2200" kern="0" spc="-6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请求进入</a:t>
            </a:r>
            <a:r>
              <a:rPr sz="2200" kern="0" spc="-6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  </a:t>
            </a:r>
            <a:r>
              <a:rPr sz="2200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AOP</a:t>
            </a:r>
            <a:r>
              <a:rPr sz="2200" kern="0" spc="-6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切</a:t>
            </a:r>
            <a:r>
              <a:rPr sz="2200" kern="0" spc="-7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面拦截</a:t>
            </a:r>
            <a:r>
              <a:rPr sz="2200" kern="0" spc="-7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  </a:t>
            </a:r>
            <a:r>
              <a:rPr sz="2200" kern="0" spc="-7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解析权限</a:t>
            </a:r>
            <a:r>
              <a:rPr sz="2200" kern="0" spc="-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Slug   </a:t>
            </a:r>
            <a:r>
              <a:rPr sz="2200" kern="0" spc="-7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查询用户权限(缓存)验证通过/拒绝</a:t>
            </a:r>
            <a:endParaRPr sz="2200" dirty="0">
              <a:latin typeface="黑体"/>
              <a:ea typeface="黑体"/>
              <a:cs typeface="黑体"/>
            </a:endParaRPr>
          </a:p>
        </p:txBody>
      </p:sp>
      <p:sp>
        <p:nvSpPr>
          <p:cNvPr id="80" name="textbox 80"/>
          <p:cNvSpPr/>
          <p:nvPr/>
        </p:nvSpPr>
        <p:spPr>
          <a:xfrm>
            <a:off x="14115997" y="6816672"/>
            <a:ext cx="1787927" cy="1375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11150" algn="l" rtl="0" eaLnBrk="0">
              <a:lnSpc>
                <a:spcPct val="97000"/>
              </a:lnSpc>
            </a:pPr>
            <a:r>
              <a:rPr sz="2200" kern="0" spc="8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脱敏视图</a:t>
            </a:r>
            <a:endParaRPr sz="22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0000"/>
              </a:lnSpc>
            </a:pPr>
            <a:endParaRPr sz="5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2835"/>
              </a:lnSpc>
              <a:spcBef>
                <a:spcPts val="0"/>
              </a:spcBef>
            </a:pP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138****</a:t>
            </a:r>
            <a:r>
              <a:rPr sz="2200" kern="0" dirty="0">
                <a:solidFill>
                  <a:srgbClr val="000000">
                    <a:alpha val="100000"/>
                  </a:srgbClr>
                </a:solidFill>
                <a:latin typeface="黑体" charset="0"/>
                <a:ea typeface="黑体" charset="0"/>
                <a:cs typeface="黑体" charset="0"/>
              </a:rPr>
              <a:t>5</a:t>
            </a:r>
            <a:r>
              <a:rPr lang="en-US" altLang="zh-CN" sz="2200" kern="0" dirty="0">
                <a:solidFill>
                  <a:srgbClr val="000000">
                    <a:alpha val="100000"/>
                  </a:srgbClr>
                </a:solidFill>
                <a:latin typeface="黑体" charset="0"/>
                <a:ea typeface="黑体" charset="0"/>
                <a:cs typeface="黑体" charset="0"/>
              </a:rPr>
              <a:t>678</a:t>
            </a:r>
            <a:endParaRPr>
              <a:latin typeface="黑体"/>
              <a:ea typeface="黑体"/>
              <a:cs typeface="黑体"/>
            </a:endParaRPr>
          </a:p>
        </p:txBody>
      </p:sp>
      <p:sp>
        <p:nvSpPr>
          <p:cNvPr id="82" name="textbox 82"/>
          <p:cNvSpPr/>
          <p:nvPr/>
        </p:nvSpPr>
        <p:spPr>
          <a:xfrm>
            <a:off x="8496324" y="6824155"/>
            <a:ext cx="1984421" cy="13417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7350" algn="l" rtl="0" eaLnBrk="0">
              <a:lnSpc>
                <a:spcPct val="98000"/>
              </a:lnSpc>
            </a:pPr>
            <a:r>
              <a:rPr sz="2200" kern="0" spc="7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原始数据</a:t>
            </a:r>
            <a:endParaRPr sz="22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1000"/>
              </a:lnSpc>
            </a:pPr>
            <a:endParaRPr sz="5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2830"/>
              </a:lnSpc>
              <a:spcBef>
                <a:spcPts val="5"/>
              </a:spcBef>
            </a:pP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138123456</a:t>
            </a:r>
            <a:r>
              <a:rPr lang="en-US" altLang="zh-CN" sz="2200" kern="0" spc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78</a:t>
            </a:r>
            <a:endParaRPr sz="2200" dirty="0">
              <a:latin typeface="黑体"/>
              <a:ea typeface="黑体"/>
              <a:cs typeface="黑体"/>
            </a:endParaRPr>
          </a:p>
        </p:txBody>
      </p:sp>
      <p:sp>
        <p:nvSpPr>
          <p:cNvPr id="84" name="textbox 84"/>
          <p:cNvSpPr/>
          <p:nvPr/>
        </p:nvSpPr>
        <p:spPr>
          <a:xfrm>
            <a:off x="946164" y="2179166"/>
            <a:ext cx="2453004" cy="5156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95000"/>
              </a:lnSpc>
            </a:pPr>
            <a:r>
              <a:rPr sz="3400" kern="0" spc="-2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</a:t>
            </a:r>
            <a:r>
              <a:rPr sz="3400" kern="0" spc="-2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OP</a:t>
            </a:r>
            <a:r>
              <a:rPr sz="3300" kern="0" spc="-20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切面鉴</a:t>
            </a:r>
            <a:r>
              <a:rPr sz="3300" kern="0" spc="-1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权</a:t>
            </a:r>
            <a:endParaRPr sz="3300" dirty="0">
              <a:latin typeface="黑体"/>
              <a:ea typeface="黑体"/>
              <a:cs typeface="黑体"/>
            </a:endParaRPr>
          </a:p>
        </p:txBody>
      </p:sp>
      <p:pic>
        <p:nvPicPr>
          <p:cNvPr id="86" name="picture 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25527" y="5626071"/>
            <a:ext cx="15836900" cy="12777"/>
          </a:xfrm>
          <a:prstGeom prst="rect">
            <a:avLst/>
          </a:prstGeom>
        </p:spPr>
      </p:pic>
      <p:pic>
        <p:nvPicPr>
          <p:cNvPr id="3" name="图片 2" descr="post_object_image_31818107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4396" y="3523041"/>
            <a:ext cx="6680773" cy="14307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 90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F3F1E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8" name="group 8"/>
          <p:cNvGrpSpPr/>
          <p:nvPr/>
        </p:nvGrpSpPr>
        <p:grpSpPr>
          <a:xfrm rot="21600000">
            <a:off x="9321796" y="1955793"/>
            <a:ext cx="7296070" cy="7004059"/>
            <a:chOff x="0" y="0"/>
            <a:chExt cx="7296070" cy="7004059"/>
          </a:xfrm>
        </p:grpSpPr>
        <p:pic>
          <p:nvPicPr>
            <p:cNvPr id="92" name="picture 9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7296070" cy="7004059"/>
            </a:xfrm>
            <a:prstGeom prst="rect">
              <a:avLst/>
            </a:prstGeom>
          </p:spPr>
        </p:pic>
        <p:sp>
          <p:nvSpPr>
            <p:cNvPr id="94" name="textbox 94"/>
            <p:cNvSpPr/>
            <p:nvPr/>
          </p:nvSpPr>
          <p:spPr>
            <a:xfrm>
              <a:off x="361967" y="387069"/>
              <a:ext cx="3059429" cy="63639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4000"/>
                </a:lnSpc>
              </a:pPr>
              <a:endParaRPr sz="1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75565" algn="l" rtl="0" eaLnBrk="0">
                <a:lnSpc>
                  <a:spcPct val="82000"/>
                </a:lnSpc>
              </a:pPr>
              <a:r>
                <a:rPr sz="2200" kern="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BEGIN TRANSAC</a:t>
              </a:r>
              <a:r>
                <a:rPr sz="2200" kern="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TION</a:t>
              </a:r>
              <a:endParaRPr sz="22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88265" algn="l" rtl="0" eaLnBrk="0">
                <a:lnSpc>
                  <a:spcPct val="82000"/>
                </a:lnSpc>
                <a:spcBef>
                  <a:spcPts val="725"/>
                </a:spcBef>
              </a:pPr>
              <a:r>
                <a:rPr sz="2400" kern="0" spc="-9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INSERT</a:t>
              </a:r>
              <a:r>
                <a:rPr sz="2400" kern="0" spc="18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 </a:t>
              </a:r>
              <a:r>
                <a:rPr sz="2400" kern="0" spc="-9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INTO courses</a:t>
              </a:r>
              <a:endParaRPr sz="24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2700" algn="l" rtl="0" eaLnBrk="0">
                <a:lnSpc>
                  <a:spcPts val="3000"/>
                </a:lnSpc>
                <a:spcBef>
                  <a:spcPts val="665"/>
                </a:spcBef>
              </a:pPr>
              <a:r>
                <a:rPr sz="2200" kern="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INSERT  INTO</a:t>
              </a:r>
              <a:r>
                <a:rPr sz="2200" kern="0" spc="2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  </a:t>
              </a:r>
              <a:r>
                <a:rPr sz="2200" kern="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chapters</a:t>
              </a:r>
              <a:endParaRPr sz="22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6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7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7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7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7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7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234950" algn="l" rtl="0" eaLnBrk="0">
                <a:lnSpc>
                  <a:spcPts val="3000"/>
                </a:lnSpc>
                <a:spcBef>
                  <a:spcPts val="670"/>
                </a:spcBef>
              </a:pPr>
              <a:r>
                <a:rPr sz="2200" kern="0" spc="-3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INSERT  INT</a:t>
              </a:r>
              <a:r>
                <a:rPr sz="2200" kern="0" spc="-4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O  hours</a:t>
              </a:r>
              <a:endParaRPr sz="22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945515" algn="l" rtl="0" eaLnBrk="0">
                <a:lnSpc>
                  <a:spcPct val="82000"/>
                </a:lnSpc>
                <a:spcBef>
                  <a:spcPts val="665"/>
                </a:spcBef>
              </a:pPr>
              <a:r>
                <a:rPr sz="2200" kern="0" spc="-3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COMMIT</a:t>
              </a:r>
              <a:endParaRPr sz="22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812165" algn="l" rtl="0" eaLnBrk="0">
                <a:lnSpc>
                  <a:spcPct val="96000"/>
                </a:lnSpc>
                <a:spcBef>
                  <a:spcPts val="265"/>
                </a:spcBef>
              </a:pPr>
              <a:r>
                <a:rPr sz="1900" kern="0" spc="-2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  <a:cs typeface="黑体"/>
                </a:rPr>
                <a:t>所有操作成功</a:t>
              </a:r>
              <a:endParaRPr sz="1900" dirty="0">
                <a:latin typeface="黑体"/>
                <a:ea typeface="黑体"/>
                <a:cs typeface="黑体"/>
              </a:endParaRPr>
            </a:p>
          </p:txBody>
        </p:sp>
      </p:grpSp>
      <p:sp>
        <p:nvSpPr>
          <p:cNvPr id="96" name="textbox 96"/>
          <p:cNvSpPr/>
          <p:nvPr/>
        </p:nvSpPr>
        <p:spPr>
          <a:xfrm>
            <a:off x="1009599" y="2223944"/>
            <a:ext cx="7426325" cy="59328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8415" algn="l" rtl="0" eaLnBrk="0">
              <a:lnSpc>
                <a:spcPct val="95000"/>
              </a:lnSpc>
            </a:pPr>
            <a:r>
              <a:rPr sz="3300" b="1" kern="0" spc="-150" dirty="0">
                <a:solidFill>
                  <a:srgbClr val="20405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业务场景</a:t>
            </a:r>
            <a:endParaRPr sz="3300" dirty="0">
              <a:latin typeface="黑体"/>
              <a:ea typeface="黑体"/>
              <a:cs typeface="黑体"/>
            </a:endParaRPr>
          </a:p>
          <a:p>
            <a:pPr marL="12700" algn="l" rtl="0" eaLnBrk="0">
              <a:lnSpc>
                <a:spcPct val="85000"/>
              </a:lnSpc>
              <a:spcBef>
                <a:spcPts val="1120"/>
              </a:spcBef>
            </a:pPr>
            <a:r>
              <a:rPr sz="2400" kern="0" spc="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发布一门新课程是一个复杂的聚合操作，需要同时向</a:t>
            </a:r>
            <a:endParaRPr sz="2400" dirty="0">
              <a:latin typeface="黑体"/>
              <a:ea typeface="黑体"/>
              <a:cs typeface="黑体"/>
            </a:endParaRPr>
          </a:p>
          <a:p>
            <a:pPr marL="101600" algn="l" rtl="0" eaLnBrk="0">
              <a:lnSpc>
                <a:spcPts val="4340"/>
              </a:lnSpc>
            </a:pP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courses`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、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`chapters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、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`hours`</a:t>
            </a:r>
            <a:r>
              <a:rPr sz="2400" kern="0" spc="2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等多张表中</a:t>
            </a: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写入数据。</a:t>
            </a:r>
            <a:endParaRPr sz="24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89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8415" algn="l" rtl="0" eaLnBrk="0">
              <a:lnSpc>
                <a:spcPct val="96000"/>
              </a:lnSpc>
              <a:spcBef>
                <a:spcPts val="1000"/>
              </a:spcBef>
            </a:pPr>
            <a:r>
              <a:rPr sz="3300" b="1" kern="0" spc="-130" dirty="0">
                <a:solidFill>
                  <a:srgbClr val="20304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潜在风险</a:t>
            </a:r>
            <a:endParaRPr sz="3300" dirty="0">
              <a:latin typeface="黑体"/>
              <a:ea typeface="黑体"/>
              <a:cs typeface="黑体"/>
            </a:endParaRPr>
          </a:p>
          <a:p>
            <a:pPr marL="12700" algn="l" rtl="0" eaLnBrk="0">
              <a:lnSpc>
                <a:spcPct val="121000"/>
              </a:lnSpc>
              <a:spcBef>
                <a:spcPts val="20"/>
              </a:spcBef>
            </a:pPr>
            <a:r>
              <a:rPr sz="2400" kern="0" spc="7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如果在操作过程中任一</a:t>
            </a:r>
            <a:r>
              <a:rPr sz="2400" kern="0" spc="6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环节(如课时信息插入)失败，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 </a:t>
            </a:r>
            <a:r>
              <a:rPr sz="2400" kern="0" spc="-1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可能导致数据库中出现不完整的“脏数据”。</a:t>
            </a:r>
            <a:endParaRPr sz="24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7000"/>
              </a:lnSpc>
              <a:spcBef>
                <a:spcPts val="940"/>
              </a:spcBef>
            </a:pPr>
            <a:r>
              <a:rPr sz="3100" b="1" kern="0" spc="0" dirty="0">
                <a:solidFill>
                  <a:srgbClr val="20405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ACID</a:t>
            </a:r>
            <a:r>
              <a:rPr sz="3100" b="1" kern="0" spc="40" dirty="0">
                <a:solidFill>
                  <a:srgbClr val="20405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保证</a:t>
            </a:r>
            <a:endParaRPr sz="3100" dirty="0">
              <a:latin typeface="黑体"/>
              <a:ea typeface="黑体"/>
              <a:cs typeface="黑体"/>
            </a:endParaRPr>
          </a:p>
          <a:p>
            <a:pPr marL="12700" algn="l" rtl="0" eaLnBrk="0">
              <a:lnSpc>
                <a:spcPct val="118000"/>
              </a:lnSpc>
              <a:spcBef>
                <a:spcPts val="150"/>
              </a:spcBef>
            </a:pPr>
            <a:r>
              <a:rPr sz="2400" kern="0" spc="6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我们在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Service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400" kern="0" spc="6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层使用`@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Transactional</a:t>
            </a:r>
            <a:r>
              <a:rPr sz="2400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`  </a:t>
            </a:r>
            <a:r>
              <a:rPr sz="2400" kern="0" spc="6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注解，将整个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2400" kern="0" spc="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发布流程包裹在一个数据库事务中。任何中间步骤的异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2400" kern="0" spc="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异常都会触发整个事务的</a:t>
            </a:r>
            <a:r>
              <a:rPr sz="2400" b="1" kern="0" spc="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全量回滚，</a:t>
            </a:r>
            <a:r>
              <a:rPr sz="2400" kern="0" spc="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确保了操作的原子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性，从根本上保证了核心业务数据的强一致性。</a:t>
            </a:r>
            <a:endParaRPr sz="2400" dirty="0">
              <a:latin typeface="黑体"/>
              <a:ea typeface="黑体"/>
              <a:cs typeface="黑体"/>
            </a:endParaRPr>
          </a:p>
        </p:txBody>
      </p:sp>
      <p:sp>
        <p:nvSpPr>
          <p:cNvPr id="98" name="textbox 98"/>
          <p:cNvSpPr/>
          <p:nvPr/>
        </p:nvSpPr>
        <p:spPr>
          <a:xfrm>
            <a:off x="1018316" y="665456"/>
            <a:ext cx="12237084" cy="723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4800" b="1" kern="0" spc="-100" dirty="0">
                <a:solidFill>
                  <a:srgbClr val="C0903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支柱二</a:t>
            </a:r>
            <a:r>
              <a:rPr sz="4800" kern="0" spc="-750" dirty="0">
                <a:solidFill>
                  <a:srgbClr val="C0903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4800" b="1" kern="0" spc="-10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·数据完整性：复杂聚合根的事务</a:t>
            </a:r>
            <a:r>
              <a:rPr sz="4800" b="1" kern="0" spc="-1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管理</a:t>
            </a:r>
            <a:endParaRPr sz="4800" dirty="0">
              <a:latin typeface="黑体"/>
              <a:ea typeface="黑体"/>
              <a:cs typeface="黑体"/>
            </a:endParaRPr>
          </a:p>
        </p:txBody>
      </p:sp>
      <p:sp>
        <p:nvSpPr>
          <p:cNvPr id="100" name="textbox 100"/>
          <p:cNvSpPr/>
          <p:nvPr/>
        </p:nvSpPr>
        <p:spPr>
          <a:xfrm>
            <a:off x="14598663" y="5092402"/>
            <a:ext cx="1492885" cy="6108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8415" indent="-5715" algn="l" rtl="0" eaLnBrk="0">
              <a:lnSpc>
                <a:spcPct val="95000"/>
              </a:lnSpc>
            </a:pPr>
            <a:r>
              <a:rPr sz="22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ROLLBACK</a:t>
            </a:r>
            <a:r>
              <a:rPr sz="2200" kern="0" spc="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900" kern="0" spc="-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任何一步失败</a:t>
            </a:r>
            <a:endParaRPr sz="1900" dirty="0">
              <a:latin typeface="黑体"/>
              <a:ea typeface="黑体"/>
              <a:cs typeface="黑体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 104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F5F4E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6" name="textbox 106"/>
          <p:cNvSpPr/>
          <p:nvPr/>
        </p:nvSpPr>
        <p:spPr>
          <a:xfrm>
            <a:off x="597899" y="284712"/>
            <a:ext cx="15662275" cy="51193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4000" b="1" kern="0" spc="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数据库轻量化：元数据与文件分离的存储策略</a:t>
            </a:r>
            <a:endParaRPr sz="40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32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14960" algn="l" rtl="0" eaLnBrk="0">
              <a:lnSpc>
                <a:spcPct val="97000"/>
              </a:lnSpc>
              <a:spcBef>
                <a:spcPts val="880"/>
              </a:spcBef>
            </a:pPr>
            <a:r>
              <a:rPr sz="2900" b="1" kern="0" spc="0" dirty="0">
                <a:solidFill>
                  <a:srgbClr val="20304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设计原则</a:t>
            </a:r>
            <a:endParaRPr sz="2900" dirty="0">
              <a:latin typeface="黑体"/>
              <a:ea typeface="黑体"/>
              <a:cs typeface="黑体"/>
            </a:endParaRPr>
          </a:p>
          <a:p>
            <a:pPr marL="309880" algn="l" rtl="0" eaLnBrk="0">
              <a:lnSpc>
                <a:spcPct val="95000"/>
              </a:lnSpc>
              <a:spcBef>
                <a:spcPts val="295"/>
              </a:spcBef>
            </a:pPr>
            <a:r>
              <a:rPr sz="2500" kern="0" spc="-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将数据库的职责聚焦于其最擅长的领域——结构化元数据管理。</a:t>
            </a:r>
            <a:endParaRPr sz="25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32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14960" algn="l" rtl="0" eaLnBrk="0">
              <a:lnSpc>
                <a:spcPct val="97000"/>
              </a:lnSpc>
              <a:spcBef>
                <a:spcPts val="870"/>
              </a:spcBef>
            </a:pPr>
            <a:r>
              <a:rPr sz="2900" b="1" kern="0" spc="-40" dirty="0">
                <a:solidFill>
                  <a:srgbClr val="20305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实现方案</a:t>
            </a:r>
            <a:endParaRPr sz="2900" dirty="0">
              <a:latin typeface="黑体"/>
              <a:ea typeface="黑体"/>
              <a:cs typeface="黑体"/>
            </a:endParaRPr>
          </a:p>
          <a:p>
            <a:pPr marL="309880" algn="l" rtl="0" eaLnBrk="0">
              <a:lnSpc>
                <a:spcPct val="91000"/>
              </a:lnSpc>
              <a:spcBef>
                <a:spcPts val="415"/>
              </a:spcBef>
            </a:pPr>
            <a:r>
              <a:rPr sz="2500" b="1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1.</a:t>
            </a:r>
            <a:r>
              <a:rPr sz="25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MySQL</a:t>
            </a:r>
            <a:r>
              <a:rPr sz="2500" b="1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 </a:t>
            </a:r>
            <a:r>
              <a:rPr sz="2500" kern="0" spc="1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仅存储文件的元数据(路径、大小、类型等),绝不使用`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BLOB</a:t>
            </a:r>
            <a:r>
              <a:rPr sz="2500" kern="0" spc="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`</a:t>
            </a:r>
            <a:r>
              <a:rPr sz="2500" kern="0" spc="1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类型。</a:t>
            </a:r>
            <a:endParaRPr sz="2500" dirty="0">
              <a:latin typeface="黑体"/>
              <a:ea typeface="黑体"/>
              <a:cs typeface="黑体"/>
            </a:endParaRPr>
          </a:p>
          <a:p>
            <a:pPr marL="309880" algn="l" rtl="0" eaLnBrk="0">
              <a:lnSpc>
                <a:spcPct val="91000"/>
              </a:lnSpc>
              <a:spcBef>
                <a:spcPts val="410"/>
              </a:spcBef>
            </a:pPr>
            <a:r>
              <a:rPr sz="2700" b="1" kern="0" spc="-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2.</a:t>
            </a:r>
            <a:r>
              <a:rPr sz="2700" b="1" kern="0" spc="40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700" b="1" kern="0" spc="-1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对象存储</a:t>
            </a:r>
            <a:r>
              <a:rPr sz="2700" kern="0" spc="-1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2700" b="1" kern="0" spc="-1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(S</a:t>
            </a:r>
            <a:r>
              <a:rPr sz="2700" b="1" kern="0" spc="-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3/MinlO)   </a:t>
            </a:r>
            <a:r>
              <a:rPr sz="2700" kern="0" spc="-1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:</a:t>
            </a:r>
            <a:r>
              <a:rPr sz="2700" kern="0" spc="3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2700" kern="0" spc="-1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负责存储课程视频、文档等所有非结构化文件。</a:t>
            </a:r>
            <a:endParaRPr sz="27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52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14960" algn="l" rtl="0" eaLnBrk="0">
              <a:lnSpc>
                <a:spcPct val="98000"/>
              </a:lnSpc>
              <a:spcBef>
                <a:spcPts val="880"/>
              </a:spcBef>
            </a:pPr>
            <a:r>
              <a:rPr sz="2900" b="1" kern="0" spc="-30" dirty="0">
                <a:solidFill>
                  <a:srgbClr val="20304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安全访问机制</a:t>
            </a:r>
            <a:endParaRPr sz="2900" dirty="0">
              <a:latin typeface="黑体"/>
              <a:ea typeface="黑体"/>
              <a:cs typeface="黑体"/>
            </a:endParaRPr>
          </a:p>
          <a:p>
            <a:pPr algn="r" rtl="0" eaLnBrk="0">
              <a:lnSpc>
                <a:spcPct val="85000"/>
              </a:lnSpc>
              <a:spcBef>
                <a:spcPts val="70"/>
              </a:spcBef>
            </a:pPr>
            <a:r>
              <a:rPr sz="2500" kern="0" spc="7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系统不存储任何公开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URL</a:t>
            </a:r>
            <a:r>
              <a:rPr sz="2500" kern="0" spc="-3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500" kern="0" spc="7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。</a:t>
            </a:r>
            <a:r>
              <a:rPr sz="2500" kern="0" spc="7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当用户需要访问资源时，后</a:t>
            </a:r>
            <a:r>
              <a:rPr sz="2500" kern="0" spc="6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端会动态生成一个有时间限制、与特定用户绑定的预</a:t>
            </a:r>
            <a:endParaRPr sz="2500" dirty="0">
              <a:latin typeface="黑体"/>
              <a:ea typeface="黑体"/>
              <a:cs typeface="黑体"/>
            </a:endParaRPr>
          </a:p>
          <a:p>
            <a:pPr marL="314325" algn="l" rtl="0" eaLnBrk="0">
              <a:lnSpc>
                <a:spcPts val="3835"/>
              </a:lnSpc>
            </a:pPr>
            <a:r>
              <a:rPr sz="2500" b="1" kern="0" spc="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签名</a:t>
            </a:r>
            <a:r>
              <a:rPr sz="25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URL</a:t>
            </a:r>
            <a:r>
              <a:rPr sz="2500" b="1" kern="0" spc="-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5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Presigned</a:t>
            </a:r>
            <a:r>
              <a:rPr sz="25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URL</a:t>
            </a:r>
            <a:r>
              <a:rPr sz="25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)</a:t>
            </a:r>
            <a:r>
              <a:rPr sz="2500" kern="0" spc="1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。</a:t>
            </a:r>
            <a:r>
              <a:rPr sz="2500" kern="0" spc="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这种方式有效隔离了应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用层与存储层，提供了远高于静态链接的安全性。</a:t>
            </a:r>
            <a:endParaRPr sz="2500" dirty="0">
              <a:latin typeface="黑体"/>
              <a:ea typeface="黑体"/>
              <a:cs typeface="黑体"/>
            </a:endParaRPr>
          </a:p>
        </p:txBody>
      </p:sp>
      <p:grpSp>
        <p:nvGrpSpPr>
          <p:cNvPr id="10" name="group 10"/>
          <p:cNvGrpSpPr/>
          <p:nvPr/>
        </p:nvGrpSpPr>
        <p:grpSpPr>
          <a:xfrm rot="21600000">
            <a:off x="1866875" y="5759403"/>
            <a:ext cx="13703352" cy="3613221"/>
            <a:chOff x="0" y="0"/>
            <a:chExt cx="13703352" cy="3613221"/>
          </a:xfrm>
        </p:grpSpPr>
        <p:pic>
          <p:nvPicPr>
            <p:cNvPr id="108" name="picture 10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13703352" cy="3613221"/>
            </a:xfrm>
            <a:prstGeom prst="rect">
              <a:avLst/>
            </a:prstGeom>
          </p:spPr>
        </p:pic>
        <p:sp>
          <p:nvSpPr>
            <p:cNvPr id="110" name="textbox 110"/>
            <p:cNvSpPr/>
            <p:nvPr/>
          </p:nvSpPr>
          <p:spPr>
            <a:xfrm>
              <a:off x="-12700" y="-12700"/>
              <a:ext cx="13729335" cy="37109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8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29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9000"/>
                </a:lnSpc>
              </a:pPr>
              <a:endParaRPr sz="1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4857115" algn="l" rtl="0" eaLnBrk="0">
                <a:lnSpc>
                  <a:spcPct val="81000"/>
                </a:lnSpc>
              </a:pPr>
              <a:r>
                <a:rPr sz="2500" kern="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Spring</a:t>
              </a:r>
              <a:r>
                <a:rPr sz="2500" kern="0" spc="17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 </a:t>
              </a:r>
              <a:r>
                <a:rPr sz="2500" kern="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Boo</a:t>
              </a:r>
              <a:r>
                <a:rPr sz="2500" kern="0" spc="-3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t App</a:t>
              </a:r>
              <a:endParaRPr sz="25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7975600" algn="l" rtl="0" eaLnBrk="0">
                <a:lnSpc>
                  <a:spcPct val="96000"/>
                </a:lnSpc>
                <a:spcBef>
                  <a:spcPts val="950"/>
                </a:spcBef>
              </a:pPr>
              <a:r>
                <a:rPr sz="2200" kern="0" spc="-5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1. </a:t>
              </a:r>
              <a:r>
                <a:rPr sz="2200" kern="0" spc="-5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  <a:cs typeface="黑体"/>
                </a:rPr>
                <a:t>查询文件元数据</a:t>
              </a:r>
              <a:endParaRPr sz="2200" dirty="0">
                <a:latin typeface="黑体"/>
                <a:ea typeface="黑体"/>
                <a:cs typeface="黑体"/>
              </a:endParaRPr>
            </a:p>
            <a:p>
              <a:pPr algn="l" rtl="0" eaLnBrk="0">
                <a:lnSpc>
                  <a:spcPct val="138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39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247650" algn="l" rtl="0" eaLnBrk="0">
                <a:lnSpc>
                  <a:spcPts val="3655"/>
                </a:lnSpc>
                <a:spcBef>
                  <a:spcPts val="810"/>
                </a:spcBef>
              </a:pPr>
              <a:r>
                <a:rPr sz="4100" kern="0" spc="-10" baseline="-17000" dirty="0">
                  <a:solidFill>
                    <a:srgbClr val="10304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User</a:t>
              </a:r>
              <a:r>
                <a:rPr sz="2600" kern="0" spc="-10" dirty="0">
                  <a:solidFill>
                    <a:srgbClr val="10304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       </a:t>
              </a:r>
              <a:r>
                <a:rPr sz="3300" kern="0" spc="-10" baseline="2000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3.</a:t>
              </a:r>
              <a:r>
                <a:rPr sz="2100" kern="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 </a:t>
              </a:r>
              <a:r>
                <a:rPr sz="3300" kern="0" spc="-10" baseline="2000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  <a:cs typeface="黑体"/>
                </a:rPr>
                <a:t>返回安全</a:t>
              </a:r>
              <a:r>
                <a:rPr sz="3300" kern="0" spc="-10" baseline="2000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URL</a:t>
              </a:r>
              <a:r>
                <a:rPr sz="2100" kern="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                         </a:t>
              </a:r>
              <a:r>
                <a:rPr sz="3300" kern="0" spc="-10" baseline="2000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2.</a:t>
              </a:r>
              <a:r>
                <a:rPr sz="2100" kern="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 </a:t>
              </a:r>
              <a:r>
                <a:rPr sz="3300" kern="0" spc="-10" baseline="2000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  <a:cs typeface="黑体"/>
                </a:rPr>
                <a:t>生成预签名</a:t>
              </a:r>
              <a:r>
                <a:rPr sz="3300" kern="0" spc="-10" baseline="2000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URL</a:t>
              </a:r>
              <a:r>
                <a:rPr sz="2100" kern="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                                 </a:t>
              </a:r>
              <a:r>
                <a:rPr sz="2100" kern="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      </a:t>
              </a:r>
              <a:r>
                <a:rPr sz="3300" kern="0" spc="-20" baseline="2000" dirty="0">
                  <a:solidFill>
                    <a:srgbClr val="10304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MySQL</a:t>
              </a:r>
              <a:endParaRPr sz="3300" baseline="2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19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19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19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19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5079365" algn="l" rtl="0" eaLnBrk="0">
                <a:lnSpc>
                  <a:spcPct val="96000"/>
                </a:lnSpc>
                <a:spcBef>
                  <a:spcPts val="665"/>
                </a:spcBef>
              </a:pPr>
              <a:r>
                <a:rPr sz="2200" kern="0" spc="-40" dirty="0">
                  <a:solidFill>
                    <a:srgbClr val="80603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4. </a:t>
              </a:r>
              <a:r>
                <a:rPr sz="2200" kern="0" spc="-40" dirty="0">
                  <a:solidFill>
                    <a:srgbClr val="806030">
                      <a:alpha val="100000"/>
                    </a:srgbClr>
                  </a:solidFill>
                  <a:latin typeface="黑体"/>
                  <a:ea typeface="黑体"/>
                  <a:cs typeface="黑体"/>
                </a:rPr>
                <a:t>用户直接、安全地访问文件</a:t>
              </a:r>
              <a:endParaRPr sz="2200" dirty="0">
                <a:latin typeface="黑体"/>
                <a:ea typeface="黑体"/>
                <a:cs typeface="黑体"/>
              </a:endParaRPr>
            </a:p>
            <a:p>
              <a:pPr algn="l" rtl="0" eaLnBrk="0">
                <a:lnSpc>
                  <a:spcPct val="106000"/>
                </a:lnSpc>
              </a:pPr>
              <a:endParaRPr sz="7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7000"/>
                </a:lnSpc>
              </a:pPr>
              <a:endParaRPr sz="1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2363450" algn="l" rtl="0" eaLnBrk="0">
                <a:lnSpc>
                  <a:spcPct val="82000"/>
                </a:lnSpc>
              </a:pPr>
              <a:r>
                <a:rPr sz="2500" kern="0" spc="-20" dirty="0">
                  <a:solidFill>
                    <a:srgbClr val="10203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S3/MinlO</a:t>
              </a:r>
              <a:endParaRPr sz="25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post_object_image_7099087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4405" y="1628551"/>
            <a:ext cx="12239625" cy="6743700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1474405" y="619952"/>
            <a:ext cx="6921500" cy="706755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zh-CN" altLang="en-US" sz="4000" b="1">
                <a:latin typeface="黑体" charset="0"/>
                <a:ea typeface="黑体" charset="0"/>
              </a:rPr>
              <a:t>预签名机制实现</a:t>
            </a:r>
            <a:endParaRPr lang="zh-CN" altLang="en-US" sz="4000" b="1">
              <a:latin typeface="黑体" charset="0"/>
              <a:ea typeface="黑体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picture 1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sp>
        <p:nvSpPr>
          <p:cNvPr id="116" name="textbox 116"/>
          <p:cNvSpPr/>
          <p:nvPr/>
        </p:nvSpPr>
        <p:spPr>
          <a:xfrm>
            <a:off x="5969060" y="2581728"/>
            <a:ext cx="5554979" cy="50088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7780" algn="l" rtl="0" eaLnBrk="0">
              <a:lnSpc>
                <a:spcPct val="98000"/>
              </a:lnSpc>
            </a:pPr>
            <a:r>
              <a:rPr sz="3000" b="1" kern="0" spc="-60" dirty="0">
                <a:solidFill>
                  <a:srgbClr val="20405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性能痛点</a:t>
            </a:r>
            <a:endParaRPr sz="3000" dirty="0">
              <a:latin typeface="黑体"/>
              <a:ea typeface="黑体"/>
              <a:cs typeface="黑体"/>
            </a:endParaRPr>
          </a:p>
          <a:p>
            <a:pPr marL="12700" algn="l" rtl="0" eaLnBrk="0">
              <a:lnSpc>
                <a:spcPct val="130000"/>
              </a:lnSpc>
              <a:spcBef>
                <a:spcPts val="80"/>
              </a:spcBef>
            </a:pPr>
            <a:r>
              <a:rPr sz="2300" kern="0" spc="-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判断一个用户是否有权查看某门课程，需要</a:t>
            </a:r>
            <a:r>
              <a:rPr sz="2300" kern="0" spc="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进行跨`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User`-&gt;`Department`-&gt;`Course`</a:t>
            </a:r>
            <a:endParaRPr sz="2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127000"/>
              </a:lnSpc>
              <a:spcBef>
                <a:spcPts val="25"/>
              </a:spcBef>
            </a:pP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等多张表的复杂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JOIN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查询，</a:t>
            </a:r>
            <a:r>
              <a:rPr sz="2300" kern="0" spc="-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成为数据库的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 </a:t>
            </a:r>
            <a:r>
              <a:rPr sz="2300" kern="0" spc="-4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主要瓶颈。</a:t>
            </a:r>
            <a:endParaRPr sz="23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23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7780" algn="l" rtl="0" eaLnBrk="0">
              <a:lnSpc>
                <a:spcPct val="97000"/>
              </a:lnSpc>
              <a:spcBef>
                <a:spcPts val="905"/>
              </a:spcBef>
            </a:pPr>
            <a:r>
              <a:rPr sz="3000" b="1" kern="0" spc="-30" dirty="0">
                <a:solidFill>
                  <a:srgbClr val="20304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缓存策略：</a:t>
            </a:r>
            <a:r>
              <a:rPr sz="3000" b="1" kern="0" spc="-30" dirty="0">
                <a:solidFill>
                  <a:srgbClr val="20304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Cache-Aside</a:t>
            </a:r>
            <a:endParaRPr sz="3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7000"/>
              </a:lnSpc>
              <a:spcBef>
                <a:spcPts val="1120"/>
              </a:spcBef>
            </a:pPr>
            <a:r>
              <a:rPr sz="2300" kern="0" spc="-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1.</a:t>
            </a:r>
            <a:r>
              <a:rPr sz="2300" kern="0" spc="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</a:t>
            </a:r>
            <a:r>
              <a:rPr sz="2300" kern="0" spc="-7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应用首先尝试从</a:t>
            </a:r>
            <a:r>
              <a:rPr sz="2300" kern="0" spc="-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Redis</a:t>
            </a:r>
            <a:r>
              <a:rPr sz="2300" kern="0" spc="-8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读取权限结果。</a:t>
            </a:r>
            <a:endParaRPr sz="2300" dirty="0">
              <a:latin typeface="黑体"/>
              <a:ea typeface="黑体"/>
              <a:cs typeface="黑体"/>
            </a:endParaRPr>
          </a:p>
          <a:p>
            <a:pPr marL="12700" algn="l" rtl="0" eaLnBrk="0">
              <a:lnSpc>
                <a:spcPct val="98000"/>
              </a:lnSpc>
              <a:spcBef>
                <a:spcPts val="995"/>
              </a:spcBef>
            </a:pPr>
            <a:r>
              <a:rPr sz="2300" kern="0" spc="-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2.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</a:t>
            </a:r>
            <a:r>
              <a:rPr sz="2300" b="1" kern="0" spc="-1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命中：</a:t>
            </a:r>
            <a:r>
              <a:rPr sz="2300" kern="0" spc="-1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直接返回。</a:t>
            </a:r>
            <a:endParaRPr sz="2300" dirty="0">
              <a:latin typeface="黑体"/>
              <a:ea typeface="黑体"/>
              <a:cs typeface="黑体"/>
            </a:endParaRPr>
          </a:p>
          <a:p>
            <a:pPr marL="431165" indent="-418465" algn="l" rtl="0" eaLnBrk="0">
              <a:lnSpc>
                <a:spcPct val="112000"/>
              </a:lnSpc>
              <a:spcBef>
                <a:spcPts val="155"/>
              </a:spcBef>
            </a:pPr>
            <a:r>
              <a:rPr sz="2500" kern="0" spc="-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r>
              <a:rPr sz="2500" b="1" kern="0" spc="-1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.</a:t>
            </a:r>
            <a:r>
              <a:rPr sz="2500" kern="0" spc="-38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2500" b="1" kern="0" spc="-1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未命中：</a:t>
            </a:r>
            <a:r>
              <a:rPr sz="2500" kern="0" spc="-1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查询</a:t>
            </a:r>
            <a:r>
              <a:rPr sz="2500" kern="0" spc="-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MySQ</a:t>
            </a:r>
            <a:r>
              <a:rPr sz="2500" kern="0" spc="-1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L, </a:t>
            </a:r>
            <a:r>
              <a:rPr sz="2500" kern="0" spc="-1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将结果写入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   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Redis</a:t>
            </a:r>
            <a:r>
              <a:rPr sz="2300" kern="0" spc="1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TTL</a:t>
            </a:r>
            <a:r>
              <a:rPr sz="2300" kern="0" spc="1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=1</a:t>
            </a:r>
            <a:r>
              <a:rPr sz="2300" kern="0" spc="4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300" kern="0" spc="17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小时),然后返回。</a:t>
            </a:r>
            <a:endParaRPr sz="2300" dirty="0">
              <a:latin typeface="黑体"/>
              <a:ea typeface="黑体"/>
              <a:cs typeface="黑体"/>
            </a:endParaRPr>
          </a:p>
        </p:txBody>
      </p:sp>
      <p:sp>
        <p:nvSpPr>
          <p:cNvPr id="118" name="textbox 118"/>
          <p:cNvSpPr/>
          <p:nvPr/>
        </p:nvSpPr>
        <p:spPr>
          <a:xfrm>
            <a:off x="1092256" y="3205286"/>
            <a:ext cx="4264659" cy="46310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3000"/>
              </a:lnSpc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User</a:t>
            </a:r>
            <a:r>
              <a:rPr sz="1800" kern="0" spc="49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Request</a:t>
            </a:r>
            <a:endParaRPr sz="18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821815" algn="l" rtl="0" eaLnBrk="0">
              <a:lnSpc>
                <a:spcPct val="82000"/>
              </a:lnSpc>
              <a:spcBef>
                <a:spcPts val="910"/>
              </a:spcBef>
            </a:pPr>
            <a:r>
              <a:rPr sz="30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~200ms</a:t>
            </a:r>
            <a:endParaRPr sz="3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81915" algn="l" rtl="0" eaLnBrk="0">
              <a:lnSpc>
                <a:spcPct val="81000"/>
              </a:lnSpc>
              <a:spcBef>
                <a:spcPts val="1515"/>
              </a:spcBef>
            </a:pPr>
            <a:r>
              <a:rPr sz="21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Application</a:t>
            </a:r>
            <a:endParaRPr sz="2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9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84000"/>
              </a:lnSpc>
              <a:spcBef>
                <a:spcPts val="550"/>
              </a:spcBef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MySQL</a:t>
            </a:r>
            <a:endParaRPr sz="18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3000"/>
              </a:lnSpc>
            </a:pPr>
            <a:endParaRPr sz="4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61315" algn="l" rtl="0" eaLnBrk="0">
              <a:lnSpc>
                <a:spcPct val="84000"/>
              </a:lnSpc>
              <a:spcBef>
                <a:spcPts val="0"/>
              </a:spcBef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MySQL</a:t>
            </a:r>
            <a:endParaRPr sz="18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0" name="textbox 120"/>
          <p:cNvSpPr/>
          <p:nvPr/>
        </p:nvSpPr>
        <p:spPr>
          <a:xfrm>
            <a:off x="1053378" y="8716709"/>
            <a:ext cx="16100136" cy="596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4495"/>
              </a:lnSpc>
            </a:pPr>
            <a:r>
              <a:rPr sz="3300" b="1" kern="0" spc="-16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成果量化：</a:t>
            </a:r>
            <a:r>
              <a:rPr sz="3300" kern="0" spc="-16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核心查询场景数据库</a:t>
            </a:r>
            <a:r>
              <a:rPr sz="3300" kern="0" spc="-1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QPS</a:t>
            </a:r>
            <a:r>
              <a:rPr sz="3300" b="1" kern="0" spc="-160" dirty="0">
                <a:solidFill>
                  <a:srgbClr val="D0903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下降90%</a:t>
            </a:r>
            <a:r>
              <a:rPr sz="3300" kern="0" spc="-16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|接口平均响应时间从</a:t>
            </a:r>
            <a:r>
              <a:rPr sz="3300" kern="0" spc="-160" dirty="0">
                <a:solidFill>
                  <a:srgbClr val="B0803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~200ms</a:t>
            </a:r>
            <a:r>
              <a:rPr sz="3300" kern="0" spc="-16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优化</a:t>
            </a:r>
            <a:r>
              <a:rPr sz="3300" kern="0" spc="-17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至</a:t>
            </a:r>
            <a:r>
              <a:rPr sz="3300" kern="0" spc="-170" dirty="0">
                <a:solidFill>
                  <a:srgbClr val="80602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~10ms</a:t>
            </a:r>
            <a:endParaRPr sz="33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2" name="textbox 122"/>
          <p:cNvSpPr/>
          <p:nvPr/>
        </p:nvSpPr>
        <p:spPr>
          <a:xfrm>
            <a:off x="954972" y="938663"/>
            <a:ext cx="14544745" cy="730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6000"/>
              </a:lnSpc>
              <a:spcBef>
                <a:spcPts val="0"/>
              </a:spcBef>
            </a:pPr>
            <a:r>
              <a:rPr sz="4800" b="1" kern="0" spc="-40" dirty="0">
                <a:solidFill>
                  <a:srgbClr val="C0803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&lt;支柱三</a:t>
            </a:r>
            <a:r>
              <a:rPr sz="4800" kern="0" spc="-40" dirty="0">
                <a:solidFill>
                  <a:srgbClr val="C0803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&gt;</a:t>
            </a:r>
            <a:r>
              <a:rPr sz="4800" b="1" kern="0" spc="-4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·性能引擎：利用</a:t>
            </a:r>
            <a:r>
              <a:rPr sz="4800" b="1" kern="0" spc="-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Redis</a:t>
            </a:r>
            <a:r>
              <a:rPr sz="4800" b="1" kern="0" spc="-5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应对高频读取挑战</a:t>
            </a:r>
            <a:endParaRPr sz="4800" dirty="0">
              <a:latin typeface="黑体"/>
              <a:ea typeface="黑体"/>
              <a:cs typeface="黑体"/>
            </a:endParaRPr>
          </a:p>
        </p:txBody>
      </p:sp>
      <p:sp>
        <p:nvSpPr>
          <p:cNvPr id="124" name="textbox 124"/>
          <p:cNvSpPr/>
          <p:nvPr/>
        </p:nvSpPr>
        <p:spPr>
          <a:xfrm>
            <a:off x="12528552" y="3205286"/>
            <a:ext cx="4165600" cy="1186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3000"/>
              </a:lnSpc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User</a:t>
            </a:r>
            <a:r>
              <a:rPr sz="1800" kern="0" spc="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Request</a:t>
            </a:r>
            <a:endParaRPr sz="18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3000"/>
              </a:lnSpc>
            </a:pPr>
            <a:endParaRPr sz="17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81000"/>
              </a:lnSpc>
              <a:spcBef>
                <a:spcPts val="5"/>
              </a:spcBef>
            </a:pPr>
            <a:r>
              <a:rPr sz="5400" b="1" kern="0" spc="-180" dirty="0">
                <a:solidFill>
                  <a:srgbClr val="C0803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~10ms</a:t>
            </a:r>
            <a:endParaRPr sz="54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6" name="textbox 126"/>
          <p:cNvSpPr/>
          <p:nvPr/>
        </p:nvSpPr>
        <p:spPr>
          <a:xfrm>
            <a:off x="12604743" y="4776191"/>
            <a:ext cx="2894964" cy="1473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21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Application</a:t>
            </a:r>
            <a:endParaRPr sz="2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81000"/>
              </a:lnSpc>
              <a:spcBef>
                <a:spcPts val="1535"/>
              </a:spcBef>
            </a:pPr>
            <a:r>
              <a:rPr sz="2100" b="1" kern="0" spc="-20" dirty="0">
                <a:solidFill>
                  <a:srgbClr val="20803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Hit(90%)</a:t>
            </a:r>
            <a:endParaRPr sz="2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43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43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3000"/>
              </a:lnSpc>
            </a:pPr>
            <a:endParaRPr sz="4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62000" algn="l" rtl="0" eaLnBrk="0">
              <a:lnSpc>
                <a:spcPct val="84000"/>
              </a:lnSpc>
              <a:spcBef>
                <a:spcPts val="5"/>
              </a:spcBef>
            </a:pP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Miss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(10%)</a:t>
            </a:r>
            <a:endParaRPr sz="18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8" name="textbox 128"/>
          <p:cNvSpPr/>
          <p:nvPr/>
        </p:nvSpPr>
        <p:spPr>
          <a:xfrm>
            <a:off x="12871414" y="7581160"/>
            <a:ext cx="791209" cy="255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4000"/>
              </a:lnSpc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MySQL</a:t>
            </a:r>
            <a:endParaRPr sz="18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textbox 132"/>
          <p:cNvSpPr/>
          <p:nvPr/>
        </p:nvSpPr>
        <p:spPr>
          <a:xfrm>
            <a:off x="15709912" y="5401939"/>
            <a:ext cx="607694" cy="2514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2000"/>
              </a:lnSpc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Redis</a:t>
            </a:r>
            <a:endParaRPr sz="18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post_object_image_22001938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4383" y="2207506"/>
            <a:ext cx="11770833" cy="5740354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1158875" y="836295"/>
            <a:ext cx="8296910" cy="76835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 sz="4400" b="1"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rPr>
              <a:t>R</a:t>
            </a:r>
            <a:r>
              <a:rPr lang="en-US" altLang="zh-CN" sz="4400" b="1"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rPr>
              <a:t>edis</a:t>
            </a:r>
            <a:r>
              <a:rPr lang="zh-CN" altLang="en-US" sz="4400" b="1">
                <a:latin typeface="黑体" charset="0"/>
                <a:ea typeface="黑体" charset="0"/>
                <a:cs typeface="黑体" charset="0"/>
              </a:rPr>
              <a:t>缓存具体实现</a:t>
            </a:r>
            <a:endParaRPr lang="zh-CN" altLang="en-US" sz="4400" b="1">
              <a:latin typeface="黑体" charset="0"/>
              <a:ea typeface="黑体" charset="0"/>
              <a:cs typeface="黑体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 134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F2F2E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0" name="textbox 140"/>
          <p:cNvSpPr/>
          <p:nvPr/>
        </p:nvSpPr>
        <p:spPr>
          <a:xfrm>
            <a:off x="1041403" y="937384"/>
            <a:ext cx="15258414" cy="2686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0320" algn="l" rtl="0" eaLnBrk="0">
              <a:lnSpc>
                <a:spcPct val="96000"/>
              </a:lnSpc>
            </a:pPr>
            <a:r>
              <a:rPr sz="4300" b="1" kern="0" spc="4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并发控制：基于乐观锁思想解决积分扣减冲突</a:t>
            </a:r>
            <a:endParaRPr sz="43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8415" algn="l" rtl="0" eaLnBrk="0">
              <a:lnSpc>
                <a:spcPct val="91000"/>
              </a:lnSpc>
              <a:spcBef>
                <a:spcPts val="1050"/>
              </a:spcBef>
            </a:pPr>
            <a:r>
              <a:rPr sz="3500" b="1" kern="0" spc="-30" dirty="0">
                <a:solidFill>
                  <a:srgbClr val="20304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业务场景与并发风险</a:t>
            </a:r>
            <a:r>
              <a:rPr sz="3500" kern="0" spc="-30" dirty="0">
                <a:solidFill>
                  <a:srgbClr val="20304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3500" b="1" kern="0" spc="-30" dirty="0">
                <a:solidFill>
                  <a:srgbClr val="20304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(Race</a:t>
            </a:r>
            <a:r>
              <a:rPr sz="3500" b="1" kern="0" spc="650" dirty="0">
                <a:solidFill>
                  <a:srgbClr val="20304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3500" b="1" kern="0" spc="-30" dirty="0">
                <a:solidFill>
                  <a:srgbClr val="20304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Condit</a:t>
            </a:r>
            <a:r>
              <a:rPr sz="3500" b="1" kern="0" spc="-40" dirty="0">
                <a:solidFill>
                  <a:srgbClr val="20304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ion)</a:t>
            </a:r>
            <a:endParaRPr sz="35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  <a:spcBef>
                <a:spcPts val="1740"/>
              </a:spcBef>
            </a:pPr>
            <a:r>
              <a:rPr sz="2600" kern="0" spc="18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多名用户可能在同一时刻尝试使用积分兑换课程。`读取积分-&gt;判断</a:t>
            </a:r>
            <a:r>
              <a:rPr sz="2600" kern="0" spc="17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余额-&gt;扣减积分`这个非原子操</a:t>
            </a:r>
            <a:endParaRPr sz="2600" dirty="0">
              <a:latin typeface="黑体"/>
              <a:ea typeface="黑体"/>
              <a:cs typeface="黑体"/>
            </a:endParaRPr>
          </a:p>
          <a:p>
            <a:pPr marL="12700" algn="l" rtl="0" eaLnBrk="0">
              <a:lnSpc>
                <a:spcPts val="3950"/>
              </a:lnSpc>
            </a:pP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作序序列可能导致积分被超额扣减为负数。</a:t>
            </a:r>
            <a:endParaRPr sz="2600" dirty="0">
              <a:latin typeface="黑体"/>
              <a:ea typeface="黑体"/>
              <a:cs typeface="黑体"/>
            </a:endParaRPr>
          </a:p>
        </p:txBody>
      </p:sp>
      <p:sp>
        <p:nvSpPr>
          <p:cNvPr id="142" name="textbox 142"/>
          <p:cNvSpPr/>
          <p:nvPr/>
        </p:nvSpPr>
        <p:spPr>
          <a:xfrm>
            <a:off x="1041338" y="7134753"/>
            <a:ext cx="15163866" cy="15513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9050" algn="l" rtl="0" eaLnBrk="0">
              <a:lnSpc>
                <a:spcPct val="96000"/>
              </a:lnSpc>
            </a:pPr>
            <a:r>
              <a:rPr sz="3500" b="1" kern="0" spc="-30" dirty="0">
                <a:solidFill>
                  <a:srgbClr val="10204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工作原理：数据库原子性保证</a:t>
            </a:r>
            <a:endParaRPr sz="3500" dirty="0">
              <a:latin typeface="黑体"/>
              <a:ea typeface="黑体"/>
              <a:cs typeface="黑体"/>
            </a:endParaRPr>
          </a:p>
          <a:p>
            <a:pPr marL="12700" algn="l" rtl="0" eaLnBrk="0">
              <a:lnSpc>
                <a:spcPct val="121000"/>
              </a:lnSpc>
              <a:spcBef>
                <a:spcPts val="440"/>
              </a:spcBef>
            </a:pPr>
            <a:r>
              <a:rPr sz="2600" kern="0" dirty="0">
                <a:solidFill>
                  <a:srgbClr val="000000">
                    <a:alpha val="100000"/>
                  </a:srgbClr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rPr>
              <a:t>利用 MySQL 行级锁 (Row Lock) 特性，`UPDATE` 语句在执行时会排他性地锁定该行记录。通过 `AND credit1 &gt;= ?` 条件将业务规则下沉至数据库层，确保了在并发环境下扣款操作的原子性与数据一致性，避免了传统的“读-改-写”模式可能导致的超卖问题。</a:t>
            </a:r>
            <a:endParaRPr>
              <a:latin typeface="Arial" panose="020B0604020202090204" pitchFamily="34" charset="0"/>
              <a:ea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2" name="图片 1" descr="post_object_image_735681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6187" y="3937649"/>
            <a:ext cx="10232121" cy="21704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picture 1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sp>
        <p:nvSpPr>
          <p:cNvPr id="148" name="textbox 148"/>
          <p:cNvSpPr/>
          <p:nvPr/>
        </p:nvSpPr>
        <p:spPr>
          <a:xfrm>
            <a:off x="1054160" y="2738856"/>
            <a:ext cx="6914515" cy="5314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7780" algn="l" rtl="0" eaLnBrk="0">
              <a:lnSpc>
                <a:spcPct val="96000"/>
              </a:lnSpc>
            </a:pPr>
            <a:r>
              <a:rPr sz="2900" b="1" kern="0" spc="0" dirty="0">
                <a:solidFill>
                  <a:srgbClr val="20204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灵活的题目模型：</a:t>
            </a:r>
            <a:r>
              <a:rPr sz="2900" b="1" kern="0" spc="0" dirty="0">
                <a:solidFill>
                  <a:srgbClr val="20204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'JS</a:t>
            </a:r>
            <a:r>
              <a:rPr sz="2900" b="1" kern="0" spc="-10" dirty="0">
                <a:solidFill>
                  <a:srgbClr val="20204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ON`</a:t>
            </a:r>
            <a:r>
              <a:rPr sz="2900" b="1" kern="0" spc="270" dirty="0">
                <a:solidFill>
                  <a:srgbClr val="20204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900" b="1" kern="0" spc="-10" dirty="0">
                <a:solidFill>
                  <a:srgbClr val="20204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字段的应用</a:t>
            </a:r>
            <a:endParaRPr sz="2900" dirty="0">
              <a:latin typeface="黑体"/>
              <a:ea typeface="黑体"/>
              <a:cs typeface="黑体"/>
            </a:endParaRPr>
          </a:p>
          <a:p>
            <a:pPr marL="12700" algn="l" rtl="0" eaLnBrk="0">
              <a:lnSpc>
                <a:spcPct val="131000"/>
              </a:lnSpc>
              <a:spcBef>
                <a:spcPts val="820"/>
              </a:spcBef>
            </a:pPr>
            <a:r>
              <a:rPr sz="2300" kern="0" spc="-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我们用`</a:t>
            </a:r>
            <a:r>
              <a:rPr sz="23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JSON`</a:t>
            </a:r>
            <a:r>
              <a:rPr sz="2300" kern="0" spc="-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类型存储`</a:t>
            </a:r>
            <a:r>
              <a:rPr sz="23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option</a:t>
            </a:r>
            <a:r>
              <a:rPr sz="23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s`</a:t>
            </a:r>
            <a:r>
              <a:rPr sz="2300" kern="0" spc="18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300" kern="0" spc="-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字段，以支持单选、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2300" kern="0" spc="-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多选乃至未来更多更多题型，无需修改表结构，极大</a:t>
            </a:r>
            <a:r>
              <a:rPr sz="2300" kern="0" spc="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 </a:t>
            </a:r>
            <a:r>
              <a:rPr sz="2300" kern="0" spc="-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增强了系统的可扩展性。</a:t>
            </a:r>
            <a:endParaRPr sz="23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7780" algn="l" rtl="0" eaLnBrk="0">
              <a:lnSpc>
                <a:spcPct val="95000"/>
              </a:lnSpc>
              <a:spcBef>
                <a:spcPts val="880"/>
              </a:spcBef>
            </a:pPr>
            <a:r>
              <a:rPr sz="2900" b="1" kern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作答</a:t>
            </a:r>
            <a:r>
              <a:rPr sz="2900" b="1" kern="0" spc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快照机制</a:t>
            </a:r>
            <a:r>
              <a:rPr sz="2900" b="1" kern="0" spc="0" dirty="0">
                <a:solidFill>
                  <a:srgbClr val="20304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：保证</a:t>
            </a:r>
            <a:r>
              <a:rPr sz="2900" b="1" kern="0" spc="-10" dirty="0">
                <a:solidFill>
                  <a:srgbClr val="20304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历史记录一致性</a:t>
            </a:r>
            <a:endParaRPr sz="29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  <a:spcBef>
                <a:spcPts val="700"/>
              </a:spcBef>
            </a:pPr>
            <a:r>
              <a:rPr lang="zh-CN" altLang="en-US" sz="2300" dirty="0">
                <a:latin typeface="黑体"/>
                <a:ea typeface="黑体"/>
                <a:cs typeface="黑体"/>
              </a:rPr>
              <a:t>系统并未简单的只存储分数，而是将用户的完整作答过程序列化为</a:t>
            </a:r>
            <a:r>
              <a:rPr lang="en-US" altLang="zh-CN" sz="2300" dirty="0">
                <a:latin typeface="黑体"/>
                <a:ea typeface="黑体"/>
                <a:cs typeface="黑体"/>
              </a:rPr>
              <a:t> JSON (user_answers) </a:t>
            </a:r>
            <a:r>
              <a:rPr lang="zh-CN" altLang="en-US" sz="2300" dirty="0">
                <a:latin typeface="黑体"/>
                <a:ea typeface="黑体"/>
                <a:cs typeface="黑体"/>
              </a:rPr>
              <a:t>永久存储。这确保了考评结果的依据是不可篡改的，方便后续进行详细的错题分析与审计。</a:t>
            </a:r>
            <a:endParaRPr sz="2300" dirty="0">
              <a:latin typeface="黑体"/>
              <a:ea typeface="黑体"/>
              <a:cs typeface="黑体"/>
            </a:endParaRPr>
          </a:p>
        </p:txBody>
      </p:sp>
      <p:sp>
        <p:nvSpPr>
          <p:cNvPr id="150" name="textbox 150"/>
          <p:cNvSpPr/>
          <p:nvPr/>
        </p:nvSpPr>
        <p:spPr>
          <a:xfrm>
            <a:off x="11712946" y="7764482"/>
            <a:ext cx="5647690" cy="1906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4000"/>
              </a:lnSpc>
            </a:pPr>
            <a:r>
              <a:rPr sz="2000" b="1" kern="0" spc="4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生成考试快照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          </a:t>
            </a:r>
            <a:r>
              <a:rPr sz="2000" b="1" kern="0" spc="4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考试记录</a:t>
            </a:r>
            <a:endParaRPr sz="2000" dirty="0">
              <a:latin typeface="黑体"/>
              <a:ea typeface="黑体"/>
              <a:cs typeface="黑体"/>
            </a:endParaRPr>
          </a:p>
          <a:p>
            <a:pPr marL="2263140" algn="l" rtl="0" eaLnBrk="0">
              <a:lnSpc>
                <a:spcPts val="2840"/>
              </a:lnSpc>
            </a:pP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(Immutable</a:t>
            </a: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Snapshot)</a:t>
            </a:r>
            <a:endParaRPr sz="2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1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83000"/>
              </a:lnSpc>
              <a:spcBef>
                <a:spcPts val="0"/>
              </a:spcBef>
            </a:pPr>
            <a:endParaRPr sz="13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2" name="textbox 152"/>
          <p:cNvSpPr/>
          <p:nvPr/>
        </p:nvSpPr>
        <p:spPr>
          <a:xfrm>
            <a:off x="8915380" y="2597339"/>
            <a:ext cx="4311650" cy="2168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165225" algn="l" rtl="0" eaLnBrk="0">
              <a:lnSpc>
                <a:spcPct val="96000"/>
              </a:lnSpc>
            </a:pPr>
            <a:r>
              <a:rPr sz="2000" b="1" kern="0" spc="4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单选题</a:t>
            </a:r>
            <a:endParaRPr sz="20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4950" algn="l" rtl="0" eaLnBrk="0">
              <a:lnSpc>
                <a:spcPts val="2540"/>
              </a:lnSpc>
              <a:spcBef>
                <a:spcPts val="610"/>
              </a:spcBef>
            </a:pP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{key:</a:t>
            </a:r>
            <a:r>
              <a:rPr sz="2000" kern="0" spc="1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'A',value:'...'},</a:t>
            </a:r>
            <a:endParaRPr sz="2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4950" algn="l" rtl="0" eaLnBrk="0">
              <a:lnSpc>
                <a:spcPts val="2615"/>
              </a:lnSpc>
            </a:pP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{key:</a:t>
            </a:r>
            <a:r>
              <a:rPr sz="2000" kern="0" spc="1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</a:t>
            </a:r>
            <a:r>
              <a:rPr sz="2000" kern="0" spc="-30" dirty="0">
                <a:solidFill>
                  <a:srgbClr val="20403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'</a:t>
            </a:r>
            <a:r>
              <a:rPr sz="2000" kern="0" spc="-30" dirty="0">
                <a:solidFill>
                  <a:srgbClr val="40603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B'</a:t>
            </a:r>
            <a:r>
              <a:rPr sz="2000" kern="0" spc="-220" dirty="0">
                <a:solidFill>
                  <a:srgbClr val="40603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,va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lue:'...'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}</a:t>
            </a:r>
            <a:endParaRPr sz="2000" dirty="0">
              <a:latin typeface="黑体"/>
              <a:ea typeface="黑体"/>
              <a:cs typeface="黑体"/>
            </a:endParaRPr>
          </a:p>
          <a:p>
            <a:pPr marL="12700" algn="l" rtl="0" eaLnBrk="0">
              <a:lnSpc>
                <a:spcPts val="2045"/>
              </a:lnSpc>
            </a:pP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]</a:t>
            </a:r>
            <a:endParaRPr sz="1500" dirty="0">
              <a:latin typeface="宋体"/>
              <a:ea typeface="宋体"/>
              <a:cs typeface="宋体"/>
            </a:endParaRPr>
          </a:p>
          <a:p>
            <a:pPr algn="l" rtl="0" eaLnBrk="0">
              <a:lnSpc>
                <a:spcPct val="108000"/>
              </a:lnSpc>
            </a:pPr>
            <a:endParaRPr sz="5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100000"/>
              </a:lnSpc>
              <a:spcBef>
                <a:spcPts val="5"/>
              </a:spcBef>
            </a:pP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]</a:t>
            </a:r>
            <a:endParaRPr sz="1600" dirty="0">
              <a:latin typeface="黑体"/>
              <a:ea typeface="黑体"/>
              <a:cs typeface="黑体"/>
            </a:endParaRPr>
          </a:p>
        </p:txBody>
      </p:sp>
      <p:sp>
        <p:nvSpPr>
          <p:cNvPr id="154" name="textbox 154"/>
          <p:cNvSpPr/>
          <p:nvPr/>
        </p:nvSpPr>
        <p:spPr>
          <a:xfrm>
            <a:off x="1063150" y="1095633"/>
            <a:ext cx="13914755" cy="7473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4900" b="1" kern="0" spc="-60" dirty="0">
                <a:solidFill>
                  <a:srgbClr val="B0804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支柱四</a:t>
            </a:r>
            <a:r>
              <a:rPr sz="4900" kern="0" spc="-60" dirty="0">
                <a:solidFill>
                  <a:srgbClr val="B0804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4900" b="1" kern="0" spc="-60" dirty="0">
                <a:solidFill>
                  <a:srgbClr val="B0804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·</a:t>
            </a:r>
            <a:r>
              <a:rPr sz="4900" b="1" kern="0" spc="-6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运维与交付：题库的灵活模型与组卷</a:t>
            </a:r>
            <a:r>
              <a:rPr sz="4900" b="1" kern="0" spc="-7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逻辑</a:t>
            </a:r>
            <a:endParaRPr sz="4900" b="1" dirty="0">
              <a:latin typeface="黑体"/>
              <a:ea typeface="黑体"/>
              <a:cs typeface="黑体"/>
            </a:endParaRPr>
          </a:p>
        </p:txBody>
      </p:sp>
      <p:sp>
        <p:nvSpPr>
          <p:cNvPr id="156" name="textbox 156"/>
          <p:cNvSpPr/>
          <p:nvPr/>
        </p:nvSpPr>
        <p:spPr>
          <a:xfrm>
            <a:off x="13322275" y="2596577"/>
            <a:ext cx="2950845" cy="18662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968375" algn="l" rtl="0" eaLnBrk="0">
              <a:lnSpc>
                <a:spcPct val="96000"/>
              </a:lnSpc>
            </a:pP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多选题</a:t>
            </a:r>
            <a:endParaRPr sz="20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4000"/>
              </a:lnSpc>
            </a:pPr>
            <a:endParaRPr sz="2000" kern="0" spc="-30" dirty="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4000"/>
              </a:lnSpc>
            </a:pP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{key: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</a:t>
            </a:r>
            <a:r>
              <a:rPr sz="2000" kern="0" spc="-30" dirty="0">
                <a:solidFill>
                  <a:srgbClr val="30603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'A'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,valu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e:'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  </a:t>
            </a:r>
            <a:r>
              <a:rPr sz="2000" kern="0" spc="-40" dirty="0">
                <a:solidFill>
                  <a:srgbClr val="30402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..'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},</a:t>
            </a:r>
            <a:endParaRPr sz="2000" dirty="0">
              <a:latin typeface="黑体"/>
              <a:ea typeface="黑体"/>
              <a:cs typeface="黑体"/>
            </a:endParaRPr>
          </a:p>
          <a:p>
            <a:pPr marL="12700" algn="l" rtl="0" eaLnBrk="0">
              <a:lnSpc>
                <a:spcPts val="2410"/>
              </a:lnSpc>
              <a:spcBef>
                <a:spcPts val="225"/>
              </a:spcBef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{key:</a:t>
            </a:r>
            <a:r>
              <a:rPr sz="2000" kern="0" spc="1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</a:t>
            </a:r>
            <a:r>
              <a:rPr sz="2000" kern="0" spc="-20" dirty="0">
                <a:solidFill>
                  <a:srgbClr val="30503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'B'</a:t>
            </a:r>
            <a:r>
              <a:rPr sz="2000" kern="0" spc="140" dirty="0">
                <a:solidFill>
                  <a:srgbClr val="30503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,value:'..'},</a:t>
            </a:r>
            <a:endParaRPr sz="2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2470"/>
              </a:lnSpc>
            </a:pP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{key:</a:t>
            </a:r>
            <a:r>
              <a:rPr sz="2000" kern="0" spc="1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'C',value: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'...'}</a:t>
            </a:r>
            <a:endParaRPr sz="2000" dirty="0">
              <a:latin typeface="黑体"/>
              <a:ea typeface="黑体"/>
              <a:cs typeface="黑体"/>
            </a:endParaRPr>
          </a:p>
        </p:txBody>
      </p:sp>
      <p:sp>
        <p:nvSpPr>
          <p:cNvPr id="158" name="textbox 158"/>
          <p:cNvSpPr/>
          <p:nvPr/>
        </p:nvSpPr>
        <p:spPr>
          <a:xfrm>
            <a:off x="8724900" y="7753483"/>
            <a:ext cx="1835785" cy="5981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657225" algn="l" rtl="0" eaLnBrk="0">
              <a:lnSpc>
                <a:spcPct val="96000"/>
              </a:lnSpc>
            </a:pPr>
            <a:r>
              <a:rPr sz="2000" b="1" kern="0" spc="6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题库</a:t>
            </a:r>
            <a:endParaRPr sz="2000" dirty="0">
              <a:latin typeface="黑体"/>
              <a:ea typeface="黑体"/>
              <a:cs typeface="黑体"/>
            </a:endParaRPr>
          </a:p>
          <a:p>
            <a:pPr marL="12700" algn="l" rtl="0" eaLnBrk="0">
              <a:lnSpc>
                <a:spcPct val="81000"/>
              </a:lnSpc>
              <a:spcBef>
                <a:spcPts val="260"/>
              </a:spcBef>
            </a:pP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(Live</a:t>
            </a:r>
            <a:r>
              <a:rPr sz="2000" b="1" kern="0" spc="1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Database)</a:t>
            </a:r>
            <a:endParaRPr sz="20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0" name="textbox 160"/>
          <p:cNvSpPr/>
          <p:nvPr/>
        </p:nvSpPr>
        <p:spPr>
          <a:xfrm>
            <a:off x="10493876" y="6713107"/>
            <a:ext cx="1073785" cy="3194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2000" b="1" kern="0" spc="4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组卷请求</a:t>
            </a:r>
            <a:endParaRPr sz="2000" dirty="0">
              <a:latin typeface="黑体"/>
              <a:ea typeface="黑体"/>
              <a:cs typeface="黑体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post_object_image_4865765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673" y="2095612"/>
            <a:ext cx="7664836" cy="5562437"/>
          </a:xfrm>
          <a:prstGeom prst="rect">
            <a:avLst/>
          </a:prstGeom>
        </p:spPr>
      </p:pic>
      <p:pic>
        <p:nvPicPr>
          <p:cNvPr id="3" name="图片 2" descr="post_object_image_215643579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9759" y="3226495"/>
            <a:ext cx="8089298" cy="3084308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648596" y="789917"/>
            <a:ext cx="3430270" cy="706755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sz="4000" b="1" kern="0" dirty="0">
                <a:solidFill>
                  <a:srgbClr val="202040">
                    <a:alpha val="100000"/>
                  </a:srgbClr>
                </a:solidFill>
                <a:latin typeface="黑体"/>
                <a:ea typeface="黑体"/>
                <a:cs typeface="黑体"/>
                <a:sym typeface="+mn-ea"/>
              </a:rPr>
              <a:t>题目模型</a:t>
            </a:r>
            <a:r>
              <a:rPr lang="zh-CN" altLang="en-US" sz="4000" b="1" kern="0" dirty="0">
                <a:solidFill>
                  <a:srgbClr val="202040">
                    <a:alpha val="100000"/>
                  </a:srgbClr>
                </a:solidFill>
                <a:latin typeface="黑体"/>
                <a:ea typeface="黑体"/>
                <a:cs typeface="黑体"/>
                <a:sym typeface="+mn-ea"/>
              </a:rPr>
              <a:t>设计</a:t>
            </a:r>
            <a:endParaRPr lang="zh-CN" altLang="en-US" sz="4000" b="1" kern="0" dirty="0">
              <a:solidFill>
                <a:srgbClr val="202040">
                  <a:alpha val="100000"/>
                </a:srgbClr>
              </a:solidFill>
              <a:latin typeface="黑体"/>
              <a:ea typeface="黑体"/>
              <a:cs typeface="黑体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post_object_image_39617376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4183" y="1326547"/>
            <a:ext cx="7366958" cy="7907349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1251585" y="619760"/>
            <a:ext cx="5901690" cy="706755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zh-CN" altLang="en-US" sz="4000" b="1"/>
              <a:t>作答</a:t>
            </a:r>
            <a:r>
              <a:rPr lang="zh-CN" altLang="en-US" sz="4000" b="1">
                <a:cs typeface="Arial" panose="020B0604020202090204" pitchFamily="34" charset="0"/>
              </a:rPr>
              <a:t>快照实现</a:t>
            </a:r>
            <a:endParaRPr lang="zh-CN" altLang="en-US" sz="4000"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rect 162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F2F1E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4" name="group 14"/>
          <p:cNvGrpSpPr/>
          <p:nvPr/>
        </p:nvGrpSpPr>
        <p:grpSpPr>
          <a:xfrm rot="21600000">
            <a:off x="1098490" y="3359139"/>
            <a:ext cx="6864432" cy="3962400"/>
            <a:chOff x="0" y="0"/>
            <a:chExt cx="6864432" cy="3962400"/>
          </a:xfrm>
        </p:grpSpPr>
        <p:pic>
          <p:nvPicPr>
            <p:cNvPr id="164" name="picture 16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6864432" cy="3962400"/>
            </a:xfrm>
            <a:prstGeom prst="rect">
              <a:avLst/>
            </a:prstGeom>
          </p:spPr>
        </p:pic>
        <p:sp>
          <p:nvSpPr>
            <p:cNvPr id="166" name="textbox 166"/>
            <p:cNvSpPr/>
            <p:nvPr/>
          </p:nvSpPr>
          <p:spPr>
            <a:xfrm>
              <a:off x="-12700" y="-12700"/>
              <a:ext cx="6890384" cy="39992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2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22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3086100" algn="l" rtl="0" eaLnBrk="0">
                <a:lnSpc>
                  <a:spcPct val="81000"/>
                </a:lnSpc>
                <a:spcBef>
                  <a:spcPts val="0"/>
                </a:spcBef>
              </a:pPr>
              <a:r>
                <a:rPr sz="4600" b="1" kern="0" spc="-150" dirty="0">
                  <a:solidFill>
                    <a:srgbClr val="20305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docker</a:t>
              </a:r>
              <a:endParaRPr sz="46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457200" algn="l" rtl="0" eaLnBrk="0">
                <a:lnSpc>
                  <a:spcPct val="80000"/>
                </a:lnSpc>
                <a:spcBef>
                  <a:spcPts val="790"/>
                </a:spcBef>
              </a:pPr>
              <a:r>
                <a:rPr sz="2600" kern="0" spc="-50" dirty="0">
                  <a:solidFill>
                    <a:srgbClr val="20404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My</a:t>
              </a:r>
              <a:r>
                <a:rPr lang="en-US" altLang="zh-CN" sz="2600" kern="0" spc="-50" dirty="0">
                  <a:solidFill>
                    <a:srgbClr val="20404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SQL</a:t>
              </a:r>
              <a:endParaRPr sz="26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10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628650" algn="l" rtl="0" eaLnBrk="0">
                <a:lnSpc>
                  <a:spcPct val="85000"/>
                </a:lnSpc>
                <a:spcBef>
                  <a:spcPts val="635"/>
                </a:spcBef>
              </a:pPr>
              <a:r>
                <a:rPr sz="1800" kern="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MySQL</a:t>
              </a:r>
              <a:r>
                <a:rPr sz="1800" kern="0" spc="2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              </a:t>
              </a:r>
              <a:r>
                <a:rPr sz="1800" kern="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Redis                </a:t>
              </a:r>
              <a:r>
                <a:rPr sz="2100" kern="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Minl</a:t>
              </a:r>
              <a:r>
                <a:rPr sz="2100" kern="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O</a:t>
              </a:r>
              <a:r>
                <a:rPr sz="2100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        </a:t>
              </a:r>
              <a:r>
                <a:rPr kern="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rPr>
                <a:t>Backend</a:t>
              </a:r>
              <a:r>
                <a:rPr sz="1800" kern="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  API</a:t>
              </a:r>
              <a:endParaRPr sz="18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6000"/>
                </a:lnSpc>
              </a:pPr>
              <a:endParaRPr sz="5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2451100" algn="l" rtl="0" eaLnBrk="0">
                <a:lnSpc>
                  <a:spcPct val="82000"/>
                </a:lnSpc>
                <a:spcBef>
                  <a:spcPts val="0"/>
                </a:spcBef>
              </a:pPr>
              <a:r>
                <a:rPr sz="2100" kern="0" spc="-3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Docker Compose</a:t>
              </a:r>
              <a:endParaRPr sz="21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 rot="21600000">
            <a:off x="9264652" y="3702076"/>
            <a:ext cx="7435872" cy="3194011"/>
            <a:chOff x="0" y="0"/>
            <a:chExt cx="7435872" cy="3194011"/>
          </a:xfrm>
        </p:grpSpPr>
        <p:pic>
          <p:nvPicPr>
            <p:cNvPr id="168" name="picture 16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7435872" cy="3194011"/>
            </a:xfrm>
            <a:prstGeom prst="rect">
              <a:avLst/>
            </a:prstGeom>
          </p:spPr>
        </p:pic>
        <p:sp>
          <p:nvSpPr>
            <p:cNvPr id="170" name="textbox 170"/>
            <p:cNvSpPr/>
            <p:nvPr/>
          </p:nvSpPr>
          <p:spPr>
            <a:xfrm>
              <a:off x="247680" y="270995"/>
              <a:ext cx="7085965" cy="24892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3000"/>
                </a:lnSpc>
              </a:pPr>
              <a:endParaRPr sz="1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4775200" algn="l" rtl="0" eaLnBrk="0">
                <a:lnSpc>
                  <a:spcPct val="80000"/>
                </a:lnSpc>
              </a:pPr>
              <a:r>
                <a:rPr sz="2100" b="1" kern="0" spc="-6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admin_logs</a:t>
              </a:r>
              <a:endParaRPr sz="21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4120515" algn="l" rtl="0" eaLnBrk="0">
                <a:lnSpc>
                  <a:spcPts val="1950"/>
                </a:lnSpc>
                <a:spcBef>
                  <a:spcPts val="1235"/>
                </a:spcBef>
              </a:pPr>
              <a:r>
                <a:rPr sz="1600" kern="0" spc="2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  <a:cs typeface="黑体"/>
                </a:rPr>
                <a:t>操作人</a:t>
              </a:r>
              <a:r>
                <a:rPr sz="1600" kern="0" spc="16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  <a:cs typeface="黑体"/>
                </a:rPr>
                <a:t>    </a:t>
              </a:r>
              <a:r>
                <a:rPr sz="1600" b="1" kern="0" spc="2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  <a:cs typeface="黑体"/>
                </a:rPr>
                <a:t>时间</a:t>
              </a:r>
              <a:r>
                <a:rPr sz="1600" kern="0" spc="2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  <a:cs typeface="黑体"/>
                </a:rPr>
                <a:t>      </a:t>
              </a:r>
              <a:r>
                <a:rPr sz="1600" b="1" kern="0" spc="2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  <a:cs typeface="黑体"/>
                </a:rPr>
                <a:t>内容</a:t>
              </a:r>
              <a:endParaRPr sz="1600" dirty="0">
                <a:latin typeface="黑体"/>
                <a:ea typeface="黑体"/>
                <a:cs typeface="黑体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6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06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12700" algn="l" rtl="0" eaLnBrk="0">
                <a:lnSpc>
                  <a:spcPts val="2455"/>
                </a:lnSpc>
                <a:spcBef>
                  <a:spcPts val="550"/>
                </a:spcBef>
              </a:pPr>
              <a:r>
                <a:rPr sz="1800" kern="0" spc="0" dirty="0">
                  <a:solidFill>
                    <a:srgbClr val="20204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public</a:t>
              </a:r>
              <a:r>
                <a:rPr sz="1800" kern="0" spc="90" dirty="0">
                  <a:solidFill>
                    <a:srgbClr val="20204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  </a:t>
              </a:r>
              <a:r>
                <a:rPr sz="1800" kern="0" spc="0" dirty="0">
                  <a:solidFill>
                    <a:srgbClr val="20204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void  </a:t>
              </a:r>
              <a:r>
                <a:rPr sz="18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deleteU</a:t>
              </a:r>
              <a:r>
                <a:rPr sz="1800" kern="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ser(…)</a:t>
              </a:r>
              <a:endParaRPr sz="18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marL="482600" algn="l" rtl="0" eaLnBrk="0">
                <a:lnSpc>
                  <a:spcPts val="2275"/>
                </a:lnSpc>
              </a:pPr>
              <a:r>
                <a:rPr sz="1800" kern="0" spc="-9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  <a:cs typeface="黑体"/>
                </a:rPr>
                <a:t>…</a:t>
              </a:r>
              <a:r>
                <a:rPr sz="1800" kern="0" spc="66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  <a:cs typeface="黑体"/>
                </a:rPr>
                <a:t> </a:t>
              </a:r>
              <a:r>
                <a:rPr sz="1800" kern="0" spc="-9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  <a:cs typeface="黑体"/>
                </a:rPr>
                <a:t>{</a:t>
              </a:r>
              <a:endParaRPr sz="1800" dirty="0">
                <a:latin typeface="黑体"/>
                <a:ea typeface="黑体"/>
                <a:cs typeface="黑体"/>
              </a:endParaRPr>
            </a:p>
            <a:p>
              <a:pPr algn="l" rtl="0" eaLnBrk="0">
                <a:lnSpc>
                  <a:spcPct val="164000"/>
                </a:lnSpc>
              </a:pPr>
              <a:endParaRPr sz="10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l" rtl="0" eaLnBrk="0">
                <a:lnSpc>
                  <a:spcPct val="130000"/>
                </a:lnSpc>
              </a:pPr>
              <a:endParaRPr sz="300" dirty="0"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r" rtl="0" eaLnBrk="0">
                <a:lnSpc>
                  <a:spcPts val="2665"/>
                </a:lnSpc>
                <a:spcBef>
                  <a:spcPts val="0"/>
                </a:spcBef>
              </a:pPr>
              <a:r>
                <a:rPr sz="2400" kern="0" spc="-30" baseline="2100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2023-10-27</a:t>
              </a:r>
              <a:r>
                <a:rPr sz="1500" kern="0" spc="7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   </a:t>
              </a:r>
              <a:r>
                <a:rPr sz="2400" kern="0" spc="-40" baseline="-1100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  <a:cs typeface="黑体"/>
                </a:rPr>
                <a:t>"删除用户"</a:t>
              </a:r>
              <a:endParaRPr sz="2400" baseline="-11000" dirty="0">
                <a:latin typeface="黑体"/>
                <a:ea typeface="黑体"/>
                <a:cs typeface="黑体"/>
              </a:endParaRPr>
            </a:p>
          </p:txBody>
        </p:sp>
      </p:grpSp>
      <p:sp>
        <p:nvSpPr>
          <p:cNvPr id="172" name="textbox 172"/>
          <p:cNvSpPr/>
          <p:nvPr/>
        </p:nvSpPr>
        <p:spPr>
          <a:xfrm>
            <a:off x="9417093" y="7631757"/>
            <a:ext cx="7211694" cy="1304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6510" algn="l" rtl="0" eaLnBrk="0">
              <a:lnSpc>
                <a:spcPct val="86000"/>
              </a:lnSpc>
            </a:pP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任何被此注解标记的管理员操作，其关键信息都会被自</a:t>
            </a:r>
            <a:endParaRPr sz="2300" dirty="0">
              <a:latin typeface="黑体"/>
              <a:ea typeface="黑体"/>
              <a:cs typeface="黑体"/>
            </a:endParaRPr>
          </a:p>
          <a:p>
            <a:pPr marL="16510" algn="l" rtl="0" eaLnBrk="0">
              <a:lnSpc>
                <a:spcPts val="3750"/>
              </a:lnSpc>
            </a:pP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动、无侵入地记录录到日志表中，为系统的安全审计和</a:t>
            </a:r>
            <a:endParaRPr sz="23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2300" kern="0" spc="-4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问题追溯提供了坚实的数据基</a:t>
            </a:r>
            <a:r>
              <a:rPr sz="2300" kern="0" spc="-5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础。</a:t>
            </a:r>
            <a:endParaRPr sz="2300" dirty="0">
              <a:latin typeface="黑体"/>
              <a:ea typeface="黑体"/>
              <a:cs typeface="黑体"/>
            </a:endParaRPr>
          </a:p>
        </p:txBody>
      </p:sp>
      <p:sp>
        <p:nvSpPr>
          <p:cNvPr id="174" name="textbox 174"/>
          <p:cNvSpPr/>
          <p:nvPr/>
        </p:nvSpPr>
        <p:spPr>
          <a:xfrm>
            <a:off x="1022356" y="7642462"/>
            <a:ext cx="6913880" cy="13023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通过单个配置文件，定义并一键拉起全</a:t>
            </a:r>
            <a:r>
              <a:rPr sz="2300" kern="0" spc="5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套服务。极大</a:t>
            </a:r>
            <a:endParaRPr sz="2300" dirty="0">
              <a:latin typeface="黑体"/>
              <a:ea typeface="黑体"/>
              <a:cs typeface="黑体"/>
            </a:endParaRPr>
          </a:p>
          <a:p>
            <a:pPr marL="12700" algn="l" rtl="0" eaLnBrk="0">
              <a:lnSpc>
                <a:spcPct val="138000"/>
              </a:lnSpc>
              <a:spcBef>
                <a:spcPts val="55"/>
              </a:spcBef>
            </a:pP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地筒化了开发、测试和生产环</a:t>
            </a:r>
            <a:r>
              <a:rPr sz="2300" kern="0" spc="5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境的部署流程，保证了</a:t>
            </a:r>
            <a:r>
              <a:rPr sz="2300" kern="0" spc="-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2300" kern="0" spc="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环境的一致性。</a:t>
            </a:r>
            <a:endParaRPr sz="2300" dirty="0">
              <a:latin typeface="黑体"/>
              <a:ea typeface="黑体"/>
              <a:cs typeface="黑体"/>
            </a:endParaRPr>
          </a:p>
        </p:txBody>
      </p:sp>
      <p:sp>
        <p:nvSpPr>
          <p:cNvPr id="176" name="textbox 176"/>
          <p:cNvSpPr/>
          <p:nvPr/>
        </p:nvSpPr>
        <p:spPr>
          <a:xfrm>
            <a:off x="1030801" y="737327"/>
            <a:ext cx="11259184" cy="7035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4600" b="1" kern="0" spc="4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从代码到云：容器化</a:t>
            </a:r>
            <a:r>
              <a:rPr sz="4600" b="1" kern="0" spc="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部署与自动化操作审计</a:t>
            </a:r>
            <a:endParaRPr sz="4600" dirty="0">
              <a:latin typeface="黑体"/>
              <a:ea typeface="黑体"/>
              <a:cs typeface="黑体"/>
            </a:endParaRPr>
          </a:p>
        </p:txBody>
      </p:sp>
      <p:sp>
        <p:nvSpPr>
          <p:cNvPr id="178" name="textbox 178"/>
          <p:cNvSpPr/>
          <p:nvPr/>
        </p:nvSpPr>
        <p:spPr>
          <a:xfrm>
            <a:off x="2266940" y="2017551"/>
            <a:ext cx="4462779" cy="11347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603250" algn="l" rtl="0" eaLnBrk="0">
              <a:lnSpc>
                <a:spcPct val="96000"/>
              </a:lnSpc>
            </a:pPr>
            <a:r>
              <a:rPr sz="3800" b="1" kern="0" spc="-70" dirty="0">
                <a:solidFill>
                  <a:srgbClr val="20405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一键式环境部署</a:t>
            </a:r>
            <a:endParaRPr sz="3800" dirty="0">
              <a:latin typeface="黑体"/>
              <a:ea typeface="黑体"/>
              <a:cs typeface="黑体"/>
            </a:endParaRPr>
          </a:p>
          <a:p>
            <a:pPr marL="12700" algn="l" rtl="0" eaLnBrk="0">
              <a:lnSpc>
                <a:spcPts val="3750"/>
              </a:lnSpc>
              <a:spcBef>
                <a:spcPts val="615"/>
              </a:spcBef>
            </a:pP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工具：`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docker-co</a:t>
            </a:r>
            <a:r>
              <a:rPr sz="27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mpose.yml`</a:t>
            </a:r>
            <a:endParaRPr sz="27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0" name="textbox 180"/>
          <p:cNvSpPr/>
          <p:nvPr/>
        </p:nvSpPr>
        <p:spPr>
          <a:xfrm>
            <a:off x="11023587" y="2018999"/>
            <a:ext cx="3905884" cy="10896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552450" algn="l" rtl="0" eaLnBrk="0">
              <a:lnSpc>
                <a:spcPct val="96000"/>
              </a:lnSpc>
            </a:pPr>
            <a:r>
              <a:rPr sz="3800" b="1" kern="0" spc="-80" dirty="0">
                <a:solidFill>
                  <a:srgbClr val="20405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内置审计日志</a:t>
            </a:r>
            <a:endParaRPr sz="38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07000"/>
              </a:lnSpc>
            </a:pPr>
            <a:endParaRPr sz="9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sz="2600" kern="0" spc="-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机制：</a:t>
            </a:r>
            <a:r>
              <a:rPr sz="2600" kern="0" spc="-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AOP+`@Log`   </a:t>
            </a:r>
            <a:r>
              <a:rPr sz="2600" kern="0" spc="-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注解</a:t>
            </a:r>
            <a:endParaRPr sz="2600" dirty="0">
              <a:latin typeface="黑体"/>
              <a:ea typeface="黑体"/>
              <a:cs typeface="黑体"/>
            </a:endParaRPr>
          </a:p>
        </p:txBody>
      </p:sp>
      <p:sp>
        <p:nvSpPr>
          <p:cNvPr id="182" name="textbox 182"/>
          <p:cNvSpPr/>
          <p:nvPr/>
        </p:nvSpPr>
        <p:spPr>
          <a:xfrm>
            <a:off x="9690055" y="4354867"/>
            <a:ext cx="2385060" cy="353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2300" kern="0" spc="-60" dirty="0">
                <a:solidFill>
                  <a:srgbClr val="80602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@Log("</a:t>
            </a:r>
            <a:r>
              <a:rPr sz="2300" kern="0" spc="-60" dirty="0">
                <a:solidFill>
                  <a:srgbClr val="80602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删除用户")</a:t>
            </a:r>
            <a:endParaRPr sz="2300" dirty="0">
              <a:latin typeface="黑体"/>
              <a:ea typeface="黑体"/>
              <a:cs typeface="黑体"/>
            </a:endParaRPr>
          </a:p>
        </p:txBody>
      </p:sp>
      <p:sp>
        <p:nvSpPr>
          <p:cNvPr id="184" name="textbox 184"/>
          <p:cNvSpPr/>
          <p:nvPr/>
        </p:nvSpPr>
        <p:spPr>
          <a:xfrm>
            <a:off x="14566859" y="6327188"/>
            <a:ext cx="771525" cy="3028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2180"/>
              </a:lnSpc>
            </a:pPr>
            <a:r>
              <a:rPr sz="1600" kern="0" spc="-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10:00:00</a:t>
            </a:r>
            <a:endParaRPr sz="16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 userDrawn="1"/>
        </p:nvSpPr>
        <p:spPr>
          <a:xfrm>
            <a:off x="927058" y="959644"/>
            <a:ext cx="5144770" cy="706755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zh-CN" altLang="en-US" sz="4000">
                <a:latin typeface="黑体" charset="0"/>
                <a:ea typeface="黑体" charset="0"/>
              </a:rPr>
              <a:t>审计</a:t>
            </a:r>
            <a:r>
              <a:rPr lang="zh-CN" altLang="en-US" sz="4000">
                <a:latin typeface="黑体" charset="0"/>
                <a:ea typeface="黑体" charset="0"/>
                <a:cs typeface="Arial" panose="020B0604020202090204" pitchFamily="34" charset="0"/>
              </a:rPr>
              <a:t>日志实现</a:t>
            </a:r>
            <a:endParaRPr lang="zh-CN" altLang="en-US" sz="4000">
              <a:latin typeface="黑体" charset="0"/>
              <a:ea typeface="黑体" charset="0"/>
            </a:endParaRPr>
          </a:p>
        </p:txBody>
      </p:sp>
      <p:pic>
        <p:nvPicPr>
          <p:cNvPr id="3" name="图片 2" descr="post_object_image_222729329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007" y="3458159"/>
            <a:ext cx="6248400" cy="3829050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927007" y="2149260"/>
            <a:ext cx="4511779" cy="829945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2400" b="1"/>
              <a:t>自定义注解</a:t>
            </a:r>
            <a:r>
              <a:rPr lang="en-US" altLang="zh-CN" sz="2400" b="1"/>
              <a:t> @Log (Log.java)</a:t>
            </a:r>
            <a:endParaRPr lang="zh-CN" altLang="en-US" sz="2400" b="1"/>
          </a:p>
        </p:txBody>
      </p:sp>
      <p:pic>
        <p:nvPicPr>
          <p:cNvPr id="5" name="图片 4" descr="post_object_image_27250629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828" y="2050614"/>
            <a:ext cx="9296400" cy="6829425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8481965" y="1037114"/>
            <a:ext cx="6319628" cy="119888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2400" b="1"/>
              <a:t>AOP </a:t>
            </a:r>
            <a:r>
              <a:rPr lang="zh-CN" altLang="en-US" sz="2400" b="1"/>
              <a:t>切面逻辑</a:t>
            </a:r>
            <a:r>
              <a:rPr lang="en-US" altLang="zh-CN" sz="2400" b="1"/>
              <a:t> (AdminLogAspect.java)</a:t>
            </a:r>
            <a:endParaRPr lang="en-US" altLang="zh-CN" sz="2400" b="1"/>
          </a:p>
          <a:p>
            <a:endParaRPr lang="zh-CN" altLang="en-US" sz="2400"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94255"/>
            <a:ext cx="17475200" cy="55524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40690" y="534035"/>
            <a:ext cx="48539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 b="1">
                <a:latin typeface="黑体" charset="0"/>
                <a:ea typeface="黑体" charset="0"/>
              </a:rPr>
              <a:t>日志具体实现</a:t>
            </a:r>
            <a:endParaRPr lang="zh-CN" altLang="en-US" sz="4000" b="1">
              <a:latin typeface="黑体" charset="0"/>
              <a:ea typeface="黑体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picture 18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sp>
        <p:nvSpPr>
          <p:cNvPr id="190" name="textbox 190"/>
          <p:cNvSpPr/>
          <p:nvPr/>
        </p:nvSpPr>
        <p:spPr>
          <a:xfrm>
            <a:off x="1193580" y="6845210"/>
            <a:ext cx="15060930" cy="15646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3300" b="1" kern="0" spc="7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最终交付</a:t>
            </a:r>
            <a:endParaRPr sz="33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100" algn="l" rtl="0" eaLnBrk="0">
              <a:lnSpc>
                <a:spcPct val="85000"/>
              </a:lnSpc>
              <a:spcBef>
                <a:spcPts val="720"/>
              </a:spcBef>
            </a:pPr>
            <a:r>
              <a:rPr sz="2400" kern="0" spc="7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我们成功交付了一个</a:t>
            </a:r>
            <a:r>
              <a:rPr sz="2400" kern="0" spc="6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技术栈现代、架构分层清晰、代码规范、部署便捷的企业级应用。这个项目全面锻炼了我</a:t>
            </a:r>
            <a:endParaRPr sz="2400" dirty="0">
              <a:latin typeface="黑体"/>
              <a:ea typeface="黑体"/>
              <a:cs typeface="黑体"/>
            </a:endParaRPr>
          </a:p>
          <a:p>
            <a:pPr marL="38100" algn="l" rtl="0" eaLnBrk="0">
              <a:lnSpc>
                <a:spcPts val="3650"/>
              </a:lnSpc>
            </a:pPr>
            <a:r>
              <a:rPr sz="2400" kern="0" spc="6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们在真实场景下设计、实现和运维复杂数据库系统的能力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。</a:t>
            </a:r>
            <a:endParaRPr sz="2400" dirty="0">
              <a:latin typeface="黑体"/>
              <a:ea typeface="黑体"/>
              <a:cs typeface="黑体"/>
            </a:endParaRPr>
          </a:p>
        </p:txBody>
      </p:sp>
      <p:sp>
        <p:nvSpPr>
          <p:cNvPr id="192" name="textbox 192"/>
          <p:cNvSpPr/>
          <p:nvPr/>
        </p:nvSpPr>
        <p:spPr>
          <a:xfrm>
            <a:off x="1050303" y="755986"/>
            <a:ext cx="14314169" cy="734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4900" b="1" kern="0" spc="-30" dirty="0">
                <a:solidFill>
                  <a:srgbClr val="20405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项目总结：一个功能完备、架构</a:t>
            </a:r>
            <a:r>
              <a:rPr sz="4900" b="1" kern="0" spc="-40" dirty="0">
                <a:solidFill>
                  <a:srgbClr val="20405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合理的在线培训系统</a:t>
            </a:r>
            <a:endParaRPr sz="4900" dirty="0">
              <a:latin typeface="黑体"/>
              <a:ea typeface="黑体"/>
              <a:cs typeface="黑体"/>
            </a:endParaRPr>
          </a:p>
        </p:txBody>
      </p:sp>
      <p:sp>
        <p:nvSpPr>
          <p:cNvPr id="194" name="textbox 194"/>
          <p:cNvSpPr/>
          <p:nvPr/>
        </p:nvSpPr>
        <p:spPr>
          <a:xfrm>
            <a:off x="6451550" y="4115372"/>
            <a:ext cx="4879937" cy="17538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824230" algn="l" rtl="0" eaLnBrk="0">
              <a:lnSpc>
                <a:spcPct val="95000"/>
              </a:lnSpc>
            </a:pPr>
            <a:r>
              <a:rPr sz="2900" b="1" kern="0" spc="-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成熟的高并发方案</a:t>
            </a:r>
            <a:endParaRPr sz="2900" dirty="0">
              <a:latin typeface="黑体"/>
              <a:ea typeface="黑体"/>
              <a:cs typeface="黑体"/>
            </a:endParaRPr>
          </a:p>
          <a:p>
            <a:pPr marL="12700" algn="l" rtl="0" eaLnBrk="0">
              <a:lnSpc>
                <a:spcPct val="89000"/>
              </a:lnSpc>
              <a:spcBef>
                <a:spcPts val="1225"/>
              </a:spcBef>
            </a:pPr>
            <a:r>
              <a:rPr sz="2200" kern="0" spc="-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综合运用</a:t>
            </a:r>
            <a:r>
              <a:rPr sz="22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Redis</a:t>
            </a:r>
            <a:r>
              <a:rPr sz="2200" kern="0" spc="-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缓存</a:t>
            </a:r>
            <a:r>
              <a:rPr sz="2200" kern="0" spc="-17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2200" kern="0" spc="-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(Cache-Aside)</a:t>
            </a:r>
            <a:endParaRPr sz="22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81915" indent="-12700" algn="l" rtl="0" eaLnBrk="0">
              <a:lnSpc>
                <a:spcPct val="127000"/>
              </a:lnSpc>
              <a:spcBef>
                <a:spcPts val="5"/>
              </a:spcBef>
            </a:pP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和数据库乐观锁，有效解决</a:t>
            </a:r>
            <a:r>
              <a:rPr sz="2200" kern="0" spc="-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了高并发</a:t>
            </a:r>
            <a:r>
              <a:rPr sz="2200" kern="0" spc="-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 </a:t>
            </a:r>
            <a:r>
              <a:rPr sz="2200" kern="0" spc="-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下的读写性能瓶颈与数据一致性问</a:t>
            </a:r>
            <a:r>
              <a:rPr sz="2200" kern="0" spc="-4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题</a:t>
            </a:r>
            <a:r>
              <a:rPr lang="zh-CN" altLang="en-US" sz="2200" kern="0" spc="-4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。</a:t>
            </a:r>
            <a:endParaRPr sz="2200" dirty="0">
              <a:latin typeface="黑体"/>
              <a:ea typeface="黑体"/>
              <a:cs typeface="黑体"/>
            </a:endParaRPr>
          </a:p>
        </p:txBody>
      </p:sp>
      <p:sp>
        <p:nvSpPr>
          <p:cNvPr id="196" name="textbox 196"/>
          <p:cNvSpPr/>
          <p:nvPr/>
        </p:nvSpPr>
        <p:spPr>
          <a:xfrm>
            <a:off x="11855406" y="4115372"/>
            <a:ext cx="4455159" cy="1764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411480" algn="l" rtl="0" eaLnBrk="0">
              <a:lnSpc>
                <a:spcPct val="95000"/>
              </a:lnSpc>
            </a:pPr>
            <a:r>
              <a:rPr sz="2900" b="1" kern="0" spc="-5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完善的安全与审计体系</a:t>
            </a:r>
            <a:endParaRPr sz="2900" dirty="0">
              <a:latin typeface="黑体"/>
              <a:ea typeface="黑体"/>
              <a:cs typeface="黑体"/>
            </a:endParaRPr>
          </a:p>
          <a:p>
            <a:pPr marL="69215" algn="l" rtl="0" eaLnBrk="0">
              <a:lnSpc>
                <a:spcPct val="96000"/>
              </a:lnSpc>
              <a:spcBef>
                <a:spcPts val="1450"/>
              </a:spcBef>
            </a:pPr>
            <a:r>
              <a:rPr sz="2200" kern="0" spc="-4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实现了从</a:t>
            </a:r>
            <a:r>
              <a:rPr sz="2200" kern="0" spc="-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RBAC</a:t>
            </a:r>
            <a:r>
              <a:rPr sz="2200" kern="0" spc="-4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宏</a:t>
            </a:r>
            <a:r>
              <a:rPr sz="2200" kern="0" spc="-5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观控制、</a:t>
            </a:r>
            <a:r>
              <a:rPr sz="2200" kern="0" spc="-5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AOP</a:t>
            </a:r>
            <a:r>
              <a:rPr sz="2200" kern="0" spc="-5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切面</a:t>
            </a:r>
            <a:endParaRPr sz="2200" dirty="0">
              <a:latin typeface="黑体"/>
              <a:ea typeface="黑体"/>
              <a:cs typeface="黑体"/>
            </a:endParaRPr>
          </a:p>
          <a:p>
            <a:pPr marL="12700" algn="l" rtl="0" eaLnBrk="0">
              <a:lnSpc>
                <a:spcPct val="92000"/>
              </a:lnSpc>
              <a:spcBef>
                <a:spcPts val="615"/>
              </a:spcBef>
            </a:pP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拦截，到字段级数据脱敏和自动化操</a:t>
            </a:r>
            <a:endParaRPr sz="22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15000"/>
              </a:lnSpc>
            </a:pPr>
            <a:endParaRPr sz="6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97815" algn="l" rtl="0" eaLnBrk="0">
              <a:lnSpc>
                <a:spcPct val="95000"/>
              </a:lnSpc>
              <a:spcBef>
                <a:spcPts val="5"/>
              </a:spcBef>
            </a:pPr>
            <a:r>
              <a:rPr sz="2200" kern="0" spc="-1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作日志的纵深防御与审计能力</a:t>
            </a:r>
            <a:r>
              <a:rPr sz="2200" kern="0" spc="-12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。</a:t>
            </a:r>
            <a:endParaRPr sz="2200" dirty="0">
              <a:latin typeface="黑体"/>
              <a:ea typeface="黑体"/>
              <a:cs typeface="黑体"/>
            </a:endParaRPr>
          </a:p>
        </p:txBody>
      </p:sp>
      <p:sp>
        <p:nvSpPr>
          <p:cNvPr id="198" name="textbox 198"/>
          <p:cNvSpPr/>
          <p:nvPr/>
        </p:nvSpPr>
        <p:spPr>
          <a:xfrm>
            <a:off x="1168448" y="4130629"/>
            <a:ext cx="4441190" cy="17424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754380" algn="l" rtl="0" eaLnBrk="0">
              <a:lnSpc>
                <a:spcPct val="96000"/>
              </a:lnSpc>
            </a:pPr>
            <a:r>
              <a:rPr sz="2900" b="1" kern="0" spc="-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深入的数据库建模</a:t>
            </a:r>
            <a:endParaRPr sz="2900" dirty="0">
              <a:latin typeface="黑体"/>
              <a:ea typeface="黑体"/>
              <a:cs typeface="黑体"/>
            </a:endParaRPr>
          </a:p>
          <a:p>
            <a:pPr marL="12700" algn="l" rtl="0" eaLnBrk="0">
              <a:lnSpc>
                <a:spcPct val="96000"/>
              </a:lnSpc>
              <a:spcBef>
                <a:spcPts val="1305"/>
              </a:spcBef>
            </a:pPr>
            <a:r>
              <a:rPr sz="2200" kern="0" spc="-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通过范式与反范式的权衡、逻辑删除</a:t>
            </a:r>
            <a:endParaRPr sz="2200" dirty="0">
              <a:latin typeface="黑体"/>
              <a:ea typeface="黑体"/>
              <a:cs typeface="黑体"/>
            </a:endParaRPr>
          </a:p>
          <a:p>
            <a:pPr marL="62865" algn="l" rtl="0" eaLnBrk="0">
              <a:lnSpc>
                <a:spcPct val="92000"/>
              </a:lnSpc>
              <a:spcBef>
                <a:spcPts val="565"/>
              </a:spcBef>
            </a:pPr>
            <a:r>
              <a:rPr sz="2200" kern="0" spc="-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和</a:t>
            </a:r>
            <a:r>
              <a:rPr sz="22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JSON</a:t>
            </a:r>
            <a:r>
              <a:rPr sz="2200" kern="0" spc="-3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类型的灵活运用，构建了兼</a:t>
            </a:r>
            <a:endParaRPr sz="2200" dirty="0">
              <a:latin typeface="黑体"/>
              <a:ea typeface="黑体"/>
              <a:cs typeface="黑体"/>
            </a:endParaRPr>
          </a:p>
          <a:p>
            <a:pPr algn="l" rtl="0" eaLnBrk="0">
              <a:lnSpc>
                <a:spcPct val="115000"/>
              </a:lnSpc>
            </a:pPr>
            <a:endParaRPr sz="6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425450" algn="l" rtl="0" eaLnBrk="0">
              <a:lnSpc>
                <a:spcPct val="95000"/>
              </a:lnSpc>
              <a:spcBef>
                <a:spcPts val="5"/>
              </a:spcBef>
            </a:pPr>
            <a:r>
              <a:rPr sz="2200" kern="0" spc="-11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具完整性与性能的数据模型。</a:t>
            </a:r>
            <a:endParaRPr sz="2200" dirty="0">
              <a:latin typeface="黑体"/>
              <a:ea typeface="黑体"/>
              <a:cs typeface="黑体"/>
            </a:endParaRPr>
          </a:p>
        </p:txBody>
      </p:sp>
      <p:pic>
        <p:nvPicPr>
          <p:cNvPr id="200" name="picture 2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089968" y="2736860"/>
            <a:ext cx="1257165" cy="1079528"/>
          </a:xfrm>
          <a:prstGeom prst="rect">
            <a:avLst/>
          </a:prstGeom>
        </p:spPr>
      </p:pic>
      <p:pic>
        <p:nvPicPr>
          <p:cNvPr id="202" name="picture 2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793934" y="2724180"/>
            <a:ext cx="1168391" cy="1117567"/>
          </a:xfrm>
          <a:prstGeom prst="rect">
            <a:avLst/>
          </a:prstGeom>
        </p:spPr>
      </p:pic>
      <p:sp>
        <p:nvSpPr>
          <p:cNvPr id="204" name="textbox 204"/>
          <p:cNvSpPr/>
          <p:nvPr/>
        </p:nvSpPr>
        <p:spPr>
          <a:xfrm>
            <a:off x="1066535" y="1979388"/>
            <a:ext cx="2627629" cy="5156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3300" b="1" kern="0" spc="9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  <a:cs typeface="黑体"/>
              </a:rPr>
              <a:t>核心技术成果</a:t>
            </a:r>
            <a:endParaRPr sz="3300" dirty="0">
              <a:latin typeface="黑体"/>
              <a:ea typeface="黑体"/>
              <a:cs typeface="黑体"/>
            </a:endParaRPr>
          </a:p>
        </p:txBody>
      </p:sp>
      <p:pic>
        <p:nvPicPr>
          <p:cNvPr id="206" name="picture 20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3576307" y="2730520"/>
            <a:ext cx="996960" cy="109220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4203</Words>
  <Application>WPS 演示</Application>
  <PresentationFormat>宽屏</PresentationFormat>
  <Paragraphs>464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48" baseType="lpstr">
      <vt:lpstr>Arial</vt:lpstr>
      <vt:lpstr>宋体</vt:lpstr>
      <vt:lpstr>Wingdings</vt:lpstr>
      <vt:lpstr>微软雅黑</vt:lpstr>
      <vt:lpstr>汉仪旗黑</vt:lpstr>
      <vt:lpstr>Arial</vt:lpstr>
      <vt:lpstr>黑体</vt:lpstr>
      <vt:lpstr>汉仪中黑KW</vt:lpstr>
      <vt:lpstr>黑体</vt:lpstr>
      <vt:lpstr>宋体</vt:lpstr>
      <vt:lpstr>汉仪书宋二KW</vt:lpstr>
      <vt:lpstr>宋体</vt:lpstr>
      <vt:lpstr>Arial Unicode MS</vt:lpstr>
      <vt:lpstr>Calibri</vt:lpstr>
      <vt:lpstr>Helvetica Neue</vt:lpstr>
      <vt:lpstr>Arial Bold</vt:lpstr>
      <vt:lpstr>汉仪中等线KW</vt:lpstr>
      <vt:lpstr>Hiragino Sans GB W3</vt:lpstr>
      <vt:lpstr>STHeiti Light</vt:lpstr>
      <vt:lpstr>娃娃体-繁</vt:lpstr>
      <vt:lpstr>Office 主题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李彦翰</cp:lastModifiedBy>
  <cp:revision>1</cp:revision>
  <dcterms:created xsi:type="dcterms:W3CDTF">2025-12-30T04:15:41Z</dcterms:created>
  <dcterms:modified xsi:type="dcterms:W3CDTF">2025-12-30T04:15:41Z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B75C98F4C40948689CB49D1002CA5FAC</vt:lpwstr>
  </property>
</Properties>
</file>